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6" d="100"/>
          <a:sy n="56" d="100"/>
        </p:scale>
        <p:origin x="10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-548640"/>
            <a:ext cx="3291840" cy="3291840"/>
          </a:xfrm>
          <a:prstGeom prst="ellipse">
            <a:avLst/>
          </a:prstGeom>
          <a:solidFill>
            <a:srgbClr val="C0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0" y="1188720"/>
            <a:ext cx="2194560" cy="2194560"/>
          </a:xfrm>
          <a:prstGeom prst="ellipse">
            <a:avLst/>
          </a:prstGeom>
          <a:solidFill>
            <a:srgbClr val="D8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03920" y="1737360"/>
            <a:ext cx="1645920" cy="1645920"/>
          </a:xfrm>
          <a:prstGeom prst="ellipse">
            <a:avLst/>
          </a:prstGeom>
          <a:solidFill>
            <a:srgbClr val="A0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32720" y="274320"/>
            <a:ext cx="1280160" cy="1280160"/>
          </a:xfrm>
          <a:prstGeom prst="ellipse">
            <a:avLst/>
          </a:prstGeom>
          <a:solidFill>
            <a:srgbClr val="E89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447" y="198103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 dirty="0">
                <a:solidFill>
                  <a:srgbClr val="9E7248"/>
                </a:solidFill>
                <a:latin typeface="Calibri"/>
              </a:rPr>
              <a:t>BUAN 6V99 · </a:t>
            </a:r>
            <a:r>
              <a:rPr lang="en-IN" sz="1600" i="1" dirty="0">
                <a:solidFill>
                  <a:srgbClr val="9E7248"/>
                </a:solidFill>
              </a:rPr>
              <a:t>Agentic AI &amp; Process Automation</a:t>
            </a:r>
            <a:endParaRPr sz="1600" b="0" i="1" dirty="0">
              <a:solidFill>
                <a:srgbClr val="9E7248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118872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B87430"/>
                </a:solidFill>
                <a:latin typeface="Georgia"/>
              </a:rPr>
              <a:t>🔥  Hearth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2E9DC"/>
                </a:solidFill>
                <a:latin typeface="Calibri Light"/>
              </a:rPr>
              <a:t>An AI-Powered Memory Companion for Alzheimer's Caregivers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37560"/>
            <a:ext cx="5943600" cy="3657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DF9F4"/>
                </a:solidFill>
                <a:latin typeface="Calibri"/>
              </a:rPr>
              <a:t>When a lucid moment happens — be ready.</a:t>
            </a:r>
          </a:p>
          <a:p>
            <a:pPr algn="l"/>
            <a:endParaRPr sz="1600" b="0" i="1">
              <a:solidFill>
                <a:srgbClr val="FDF9F4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F2E9DC"/>
                </a:solidFill>
                <a:latin typeface="Calibri"/>
              </a:rPr>
              <a:t>Hearth uses OpenAI GPT-4o to generate personalized care packages in seconds —</a:t>
            </a:r>
          </a:p>
          <a:p>
            <a:pPr algn="l"/>
            <a:r>
              <a:rPr sz="1400" b="0" i="0">
                <a:solidFill>
                  <a:srgbClr val="F2E9DC"/>
                </a:solidFill>
                <a:latin typeface="Calibri"/>
              </a:rPr>
              <a:t>a family letter, a voice message, a photo story, and a caregiver dialogue guide.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6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" y="6404173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9E7248"/>
                </a:solidFill>
              </a:rPr>
              <a:t>Radhey Mutha  · Nikhil </a:t>
            </a:r>
            <a:r>
              <a:rPr lang="en-US" sz="1400" b="0" i="0" dirty="0">
                <a:solidFill>
                  <a:srgbClr val="9E7248"/>
                </a:solidFill>
                <a:latin typeface="Calibri"/>
              </a:rPr>
              <a:t>Gajula  ·  Muneeb Ahmed</a:t>
            </a:r>
            <a:endParaRPr sz="1400" b="0" i="0" dirty="0">
              <a:solidFill>
                <a:srgbClr val="9E7248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55967A-A389-52C4-4896-F8270DC4B68A}"/>
              </a:ext>
            </a:extLst>
          </p:cNvPr>
          <p:cNvSpPr txBox="1"/>
          <p:nvPr/>
        </p:nvSpPr>
        <p:spPr>
          <a:xfrm>
            <a:off x="720090" y="524843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1" dirty="0">
                <a:solidFill>
                  <a:srgbClr val="9E7248"/>
                </a:solidFill>
                <a:latin typeface="Calibri"/>
              </a:rPr>
              <a:t>Group 14 </a:t>
            </a:r>
            <a:r>
              <a:rPr sz="1600" b="0" i="1" dirty="0">
                <a:solidFill>
                  <a:srgbClr val="9E7248"/>
                </a:solidFill>
                <a:latin typeface="Calibri"/>
              </a:rPr>
              <a:t>· </a:t>
            </a:r>
            <a:r>
              <a:rPr lang="en-IN" sz="1600" i="1" dirty="0">
                <a:solidFill>
                  <a:srgbClr val="9E7248"/>
                </a:solidFill>
              </a:rPr>
              <a:t>The Peter Pan Posse</a:t>
            </a:r>
            <a:endParaRPr sz="1600" b="0" i="1" dirty="0">
              <a:solidFill>
                <a:srgbClr val="9E724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13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DF9F4"/>
                </a:solidFill>
                <a:latin typeface="Georgia"/>
              </a:rPr>
              <a:t>Alzheimer's Disease — By the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2148840" cy="1691640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874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DF9F4"/>
                </a:solidFill>
                <a:latin typeface="Calibri"/>
              </a:rPr>
              <a:t>55M+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DF9F4"/>
                </a:solidFill>
                <a:latin typeface="Calibri"/>
              </a:rPr>
              <a:t>People Living
with Dementia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2E9DC"/>
                </a:solidFill>
                <a:latin typeface="Calibri"/>
              </a:rPr>
              <a:t>Worldwide · 2024 WHO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7208" y="1508760"/>
            <a:ext cx="2148840" cy="1691640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44368" y="1645920"/>
            <a:ext cx="1874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DF9F4"/>
                </a:solidFill>
                <a:latin typeface="Calibri"/>
              </a:rPr>
              <a:t>6.9M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423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DF9F4"/>
                </a:solidFill>
                <a:latin typeface="Calibri"/>
              </a:rPr>
              <a:t>Americans
with Alzheimer's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8803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2E9DC"/>
                </a:solidFill>
                <a:latin typeface="Calibri"/>
              </a:rPr>
              <a:t>Expected 13M by 2050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57216" y="1508760"/>
            <a:ext cx="2148840" cy="1691640"/>
          </a:xfrm>
          <a:prstGeom prst="rect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94376" y="1645920"/>
            <a:ext cx="1874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DF9F4"/>
                </a:solidFill>
                <a:latin typeface="Calibri"/>
              </a:rPr>
              <a:t>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2423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DF9F4"/>
                </a:solidFill>
                <a:latin typeface="Calibri"/>
              </a:rPr>
              <a:t>Most Common
Form of Dementia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28803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2E9DC"/>
                </a:solidFill>
                <a:latin typeface="Calibri"/>
              </a:rPr>
              <a:t>60–70% of all dementia cases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07224" y="1508760"/>
            <a:ext cx="2148840" cy="1691640"/>
          </a:xfrm>
          <a:prstGeom prst="rect">
            <a:avLst/>
          </a:prstGeom>
          <a:solidFill>
            <a:srgbClr val="5A3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44384" y="1645920"/>
            <a:ext cx="1874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DF9F4"/>
                </a:solidFill>
                <a:latin typeface="Calibri"/>
              </a:rPr>
              <a:t>$360B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8664" y="2423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DF9F4"/>
                </a:solidFill>
                <a:latin typeface="Calibri"/>
              </a:rPr>
              <a:t>Annual Cost
in the U.S.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4" y="28803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2E9DC"/>
                </a:solidFill>
                <a:latin typeface="Calibri"/>
              </a:rPr>
              <a:t>Direct care + lost productivity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57232" y="1508760"/>
            <a:ext cx="2148840" cy="1691640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94392" y="1645920"/>
            <a:ext cx="1874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DF9F4"/>
                </a:solidFill>
                <a:latin typeface="Calibri"/>
              </a:rPr>
              <a:t>11M+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2423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DF9F4"/>
                </a:solidFill>
                <a:latin typeface="Calibri"/>
              </a:rPr>
              <a:t>Unpaid Caregivers
in the U.S.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28803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2E9DC"/>
                </a:solidFill>
                <a:latin typeface="Calibri"/>
              </a:rPr>
              <a:t>18.4B hours of care per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147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6A4220"/>
                </a:solidFill>
                <a:latin typeface="Calibri"/>
              </a:rPr>
              <a:t>Disease Stage Distribution (estimated U.S. patients)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850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4220"/>
                </a:solidFill>
                <a:latin typeface="Calibri"/>
              </a:rPr>
              <a:t>Mild (Early)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3821624"/>
            <a:ext cx="6858000" cy="27432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94560" y="3821624"/>
            <a:ext cx="2400300" cy="274320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55804" y="382162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DF9F4"/>
                </a:solidFill>
                <a:latin typeface="Calibri"/>
              </a:rPr>
              <a:t>35%  ·  ~2.4M people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154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4220"/>
                </a:solidFill>
                <a:latin typeface="Calibri"/>
              </a:rPr>
              <a:t>Moderate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4351976"/>
            <a:ext cx="6858000" cy="27432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194560" y="4351976"/>
            <a:ext cx="2743200" cy="274320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87034" y="436168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DF9F4"/>
                </a:solidFill>
                <a:latin typeface="Calibri"/>
              </a:rPr>
              <a:t>40%  ·  ~2.8M people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457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6A4220"/>
                </a:solidFill>
                <a:latin typeface="Calibri"/>
              </a:rPr>
              <a:t>Severe (Late)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4882328"/>
            <a:ext cx="6858000" cy="27432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194560" y="4882328"/>
            <a:ext cx="1714500" cy="274320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94560" y="491032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DF9F4"/>
                </a:solidFill>
                <a:latin typeface="Calibri"/>
              </a:rPr>
              <a:t>25%  ·  ~1.7M people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18904" y="3337560"/>
            <a:ext cx="2569464" cy="329184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80732" y="3518313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B87430"/>
                </a:solidFill>
                <a:latin typeface="Calibri"/>
              </a:rPr>
              <a:t>Key Facts</a:t>
            </a:r>
          </a:p>
          <a:p>
            <a:pPr algn="l"/>
            <a:endParaRPr sz="1400" b="1" i="0" dirty="0">
              <a:solidFill>
                <a:srgbClr val="B87430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FDF9F4"/>
                </a:solidFill>
                <a:latin typeface="Calibri"/>
              </a:rPr>
              <a:t>⏱  New diagnosis every
    3 seconds globally</a:t>
            </a:r>
          </a:p>
          <a:p>
            <a:pPr algn="l"/>
            <a:endParaRPr sz="1100" b="0" i="0" dirty="0">
              <a:solidFill>
                <a:srgbClr val="FDF9F4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FDF9F4"/>
                </a:solidFill>
                <a:latin typeface="Calibri"/>
              </a:rPr>
              <a:t>👵  Most common in
    adults over 65</a:t>
            </a:r>
          </a:p>
          <a:p>
            <a:pPr algn="l"/>
            <a:endParaRPr sz="1100" b="0" i="0" dirty="0">
              <a:solidFill>
                <a:srgbClr val="FDF9F4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FDF9F4"/>
                </a:solidFill>
                <a:latin typeface="Calibri"/>
              </a:rPr>
              <a:t>🧠  Memory loss is the
    hallmark symptom</a:t>
            </a:r>
          </a:p>
          <a:p>
            <a:pPr algn="l"/>
            <a:endParaRPr sz="1100" b="0" i="0" dirty="0">
              <a:solidFill>
                <a:srgbClr val="FDF9F4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FDF9F4"/>
                </a:solidFill>
                <a:latin typeface="Calibri"/>
              </a:rPr>
              <a:t>💔  Average survival:
    4–8 years after diagnosis</a:t>
            </a:r>
          </a:p>
          <a:p>
            <a:pPr algn="l"/>
            <a:endParaRPr sz="1100" b="0" i="0" dirty="0">
              <a:solidFill>
                <a:srgbClr val="FDF9F4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FDF9F4"/>
                </a:solidFill>
                <a:latin typeface="Calibri"/>
              </a:rPr>
              <a:t>🌍  By 2050, cases will
    nearly triple worldwide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" y="6601968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9E7248"/>
                </a:solidFill>
                <a:latin typeface="Calibri"/>
              </a:rPr>
              <a:t>Sources: Alzheimer's Association 2024 Report · WHO Global Dementia Report · CDC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A0A02"/>
                </a:solidFill>
                <a:latin typeface="Calibri"/>
              </a:rPr>
              <a:t>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87430"/>
                </a:solidFill>
                <a:latin typeface="Georgia"/>
              </a:rPr>
              <a:t>Lucid Moments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03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2E9DC"/>
                </a:solidFill>
                <a:latin typeface="Calibri"/>
              </a:rPr>
              <a:t>The Window of Opportunity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51760"/>
            <a:ext cx="3474720" cy="3657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78892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2E9DC"/>
                </a:solidFill>
                <a:latin typeface="Calibri"/>
              </a:rPr>
              <a:t>A lucid moment is a sudden, temporary</a:t>
            </a:r>
          </a:p>
          <a:p>
            <a:pPr algn="ctr"/>
            <a:r>
              <a:rPr sz="1300" b="0" i="1">
                <a:solidFill>
                  <a:srgbClr val="F2E9DC"/>
                </a:solidFill>
                <a:latin typeface="Calibri"/>
              </a:rPr>
              <a:t>period of clarity in a dementia patient —</a:t>
            </a:r>
          </a:p>
          <a:p>
            <a:pPr algn="ctr"/>
            <a:r>
              <a:rPr sz="1300" b="0" i="1">
                <a:solidFill>
                  <a:srgbClr val="F2E9DC"/>
                </a:solidFill>
                <a:latin typeface="Calibri"/>
              </a:rPr>
              <a:t>when they recognize loved ones, recall</a:t>
            </a:r>
          </a:p>
          <a:p>
            <a:pPr algn="ctr"/>
            <a:r>
              <a:rPr sz="1300" b="0" i="1">
                <a:solidFill>
                  <a:srgbClr val="F2E9DC"/>
                </a:solidFill>
                <a:latin typeface="Calibri"/>
              </a:rPr>
              <a:t>memories, and communicate meaningfully.</a:t>
            </a:r>
          </a:p>
          <a:p>
            <a:pPr algn="ctr"/>
            <a:endParaRPr sz="1300" b="0" i="1">
              <a:solidFill>
                <a:srgbClr val="F2E9DC"/>
              </a:solidFill>
              <a:latin typeface="Calibri"/>
            </a:endParaRPr>
          </a:p>
          <a:p>
            <a:pPr algn="ctr"/>
            <a:r>
              <a:rPr sz="1200" b="0" i="0">
                <a:solidFill>
                  <a:srgbClr val="9E7248"/>
                </a:solidFill>
                <a:latin typeface="Calibri"/>
              </a:rPr>
              <a:t>These windows can last minutes to hours.</a:t>
            </a:r>
          </a:p>
          <a:p>
            <a:pPr algn="ctr"/>
            <a:r>
              <a:rPr sz="1200" b="0" i="0">
                <a:solidFill>
                  <a:srgbClr val="9E7248"/>
                </a:solidFill>
                <a:latin typeface="Calibri"/>
              </a:rPr>
              <a:t>They are unpredictable. They are precious.</a:t>
            </a:r>
          </a:p>
          <a:p>
            <a:pPr algn="ctr"/>
            <a:r>
              <a:rPr sz="1200" b="0" i="0">
                <a:solidFill>
                  <a:srgbClr val="9E7248"/>
                </a:solidFill>
                <a:latin typeface="Calibri"/>
              </a:rPr>
              <a:t>Most families are caught unprepared.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4805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D04C14"/>
                </a:solidFill>
                <a:latin typeface="Calibri"/>
              </a:rPr>
              <a:t>73%</a:t>
            </a:r>
          </a:p>
          <a:p>
            <a:pPr algn="l"/>
            <a:r>
              <a:rPr sz="1000" b="0" i="0" dirty="0">
                <a:solidFill>
                  <a:srgbClr val="F2E9DC"/>
                </a:solidFill>
                <a:latin typeface="Calibri"/>
              </a:rPr>
              <a:t>  of family caregivers report being
caught unprepared during a lucid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20065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B87430"/>
                </a:solidFill>
                <a:latin typeface="Calibri"/>
              </a:rPr>
              <a:t>15–45</a:t>
            </a:r>
          </a:p>
          <a:p>
            <a:pPr algn="l"/>
            <a:r>
              <a:rPr sz="1000" b="0" i="0" dirty="0">
                <a:solidFill>
                  <a:srgbClr val="F2E9DC"/>
                </a:solidFill>
                <a:latin typeface="Calibri"/>
              </a:rPr>
              <a:t>  average minutes a lucid moment lasts
before confusion returns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8521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A5E14"/>
                </a:solidFill>
                <a:latin typeface="Calibri"/>
              </a:rPr>
              <a:t>2–4×</a:t>
            </a:r>
          </a:p>
          <a:p>
            <a:pPr algn="l"/>
            <a:r>
              <a:rPr sz="1000" b="0" i="0">
                <a:solidFill>
                  <a:srgbClr val="F2E9DC"/>
                </a:solidFill>
                <a:latin typeface="Calibri"/>
              </a:rPr>
              <a:t>  more lucid moments in the morning
than any other time of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20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0A02"/>
                </a:solidFill>
                <a:latin typeface="Georgia"/>
              </a:rPr>
              <a:t>What Families 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914400"/>
            <a:ext cx="6217920" cy="3657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468112" y="1170432"/>
            <a:ext cx="585216" cy="585216"/>
          </a:xfrm>
          <a:prstGeom prst="ellipse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13248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1A0A02"/>
                </a:solidFill>
                <a:latin typeface="Calibri"/>
              </a:rPr>
              <a:t>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0972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02"/>
                </a:solidFill>
                <a:latin typeface="Calibri"/>
              </a:rPr>
              <a:t>Scrambling for words in the moment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44475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4220"/>
                </a:solidFill>
                <a:latin typeface="Calibri"/>
              </a:rPr>
              <a:t>Families freeze — unsure what to say when their loved one suddenly recognizes them.</a:t>
            </a:r>
          </a:p>
        </p:txBody>
      </p:sp>
      <p:sp>
        <p:nvSpPr>
          <p:cNvPr id="20" name="Oval 19"/>
          <p:cNvSpPr/>
          <p:nvPr/>
        </p:nvSpPr>
        <p:spPr>
          <a:xfrm>
            <a:off x="5468112" y="2450592"/>
            <a:ext cx="585216" cy="585216"/>
          </a:xfrm>
          <a:prstGeom prst="ellipse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80" y="252374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1A0A02"/>
                </a:solidFill>
                <a:latin typeface="Calibri"/>
              </a:rPr>
              <a:t>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774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02"/>
                </a:solidFill>
                <a:latin typeface="Calibri"/>
              </a:rPr>
              <a:t>No photos or stories at hand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72491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4220"/>
                </a:solidFill>
                <a:latin typeface="Calibri"/>
              </a:rPr>
              <a:t>Meaningful memories live in family heads, not in the room when they're needed.</a:t>
            </a:r>
          </a:p>
        </p:txBody>
      </p:sp>
      <p:sp>
        <p:nvSpPr>
          <p:cNvPr id="24" name="Oval 23"/>
          <p:cNvSpPr/>
          <p:nvPr/>
        </p:nvSpPr>
        <p:spPr>
          <a:xfrm>
            <a:off x="5468112" y="3730752"/>
            <a:ext cx="585216" cy="585216"/>
          </a:xfrm>
          <a:prstGeom prst="ellipse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2925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0A02"/>
                </a:solidFill>
                <a:latin typeface="Calibri"/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6576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02"/>
                </a:solidFill>
                <a:latin typeface="Calibri"/>
              </a:rPr>
              <a:t>Inconsistent caregiver interactions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00507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4220"/>
                </a:solidFill>
                <a:latin typeface="Calibri"/>
              </a:rPr>
              <a:t>Different staff, different approaches — no shared context on what soothes the patient.</a:t>
            </a:r>
          </a:p>
        </p:txBody>
      </p:sp>
      <p:sp>
        <p:nvSpPr>
          <p:cNvPr id="28" name="Oval 27"/>
          <p:cNvSpPr/>
          <p:nvPr/>
        </p:nvSpPr>
        <p:spPr>
          <a:xfrm>
            <a:off x="5468112" y="5010912"/>
            <a:ext cx="585216" cy="585216"/>
          </a:xfrm>
          <a:prstGeom prst="ellipse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29250" y="512978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1A0A02"/>
                </a:solidFill>
                <a:latin typeface="Calibri"/>
              </a:rPr>
              <a:t>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9377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02"/>
                </a:solidFill>
                <a:latin typeface="Calibri"/>
              </a:rPr>
              <a:t>Missed connections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28523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4220"/>
                </a:solidFill>
                <a:latin typeface="Calibri"/>
              </a:rPr>
              <a:t>The moment passes before real conversation happens. The window closes.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6217920"/>
            <a:ext cx="6400800" cy="41148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77840" y="626364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87430"/>
                </a:solidFill>
                <a:latin typeface="Calibri"/>
              </a:rPr>
              <a:t>Hearth solves exactly this — before the moment happens.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DF9F4"/>
                </a:solidFill>
                <a:latin typeface="Georgia"/>
              </a:rPr>
              <a:t>How Hearth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E7248"/>
                </a:solidFill>
                <a:latin typeface="Calibri"/>
              </a:rPr>
              <a:t>From family memory to care-ready package — in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011680" cy="4114800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80" y="1463040"/>
            <a:ext cx="512064" cy="512064"/>
          </a:xfrm>
          <a:prstGeom prst="ellipse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DF9F4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0A02"/>
                </a:solidFill>
                <a:latin typeface="Calibri"/>
              </a:rPr>
              <a:t>👨‍👩‍👧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DF9F4"/>
                </a:solidFill>
                <a:latin typeface="Calibri"/>
              </a:rPr>
              <a:t>Family
Submits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46119"/>
            <a:ext cx="1463040" cy="27432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33375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F9F4"/>
                </a:solidFill>
                <a:latin typeface="Calibri"/>
              </a:rPr>
              <a:t>Memories, photos,
and voice samples
shared via Hearth
web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6584" y="333756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743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4328" y="1371600"/>
            <a:ext cx="2011680" cy="4114800"/>
          </a:xfrm>
          <a:prstGeom prst="rect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15768" y="1463040"/>
            <a:ext cx="512064" cy="512064"/>
          </a:xfrm>
          <a:prstGeom prst="ellipse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34056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DF9F4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328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0A02"/>
                </a:solidFill>
                <a:latin typeface="Calibri"/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DF9F4"/>
                </a:solidFill>
                <a:latin typeface="Calibri"/>
              </a:rPr>
              <a:t>AI
Processes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98648" y="3246119"/>
            <a:ext cx="1463040" cy="27432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15768" y="33375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F9F4"/>
                </a:solidFill>
                <a:latin typeface="Calibri"/>
              </a:rPr>
              <a:t>GPT-4o reads all
memories and builds
a rich patient
context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333756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743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28616" y="1371600"/>
            <a:ext cx="2011680" cy="4114800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20056" y="1463040"/>
            <a:ext cx="512064" cy="512064"/>
          </a:xfrm>
          <a:prstGeom prst="ellipse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38344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DF9F4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0A02"/>
                </a:solidFill>
                <a:latin typeface="Calibri"/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0056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DF9F4"/>
                </a:solidFill>
                <a:latin typeface="Calibri"/>
              </a:rPr>
              <a:t>Lucid Now
Triggered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02936" y="3246119"/>
            <a:ext cx="1463040" cy="27432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0056" y="33375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F9F4"/>
                </a:solidFill>
                <a:latin typeface="Calibri"/>
              </a:rPr>
              <a:t>Caregiver presses
'Lucid Now' when
the window opens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33756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7430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32904" y="1371600"/>
            <a:ext cx="2011680" cy="4114800"/>
          </a:xfrm>
          <a:prstGeom prst="rect">
            <a:avLst/>
          </a:prstGeom>
          <a:solidFill>
            <a:srgbClr val="5A3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324344" y="1463040"/>
            <a:ext cx="512064" cy="512064"/>
          </a:xfrm>
          <a:prstGeom prst="ellipse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2632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DF9F4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2904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0A02"/>
                </a:solidFill>
                <a:latin typeface="Calibri"/>
              </a:rPr>
              <a:t>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4344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DF9F4"/>
                </a:solidFill>
                <a:latin typeface="Calibri"/>
              </a:rPr>
              <a:t>Package
Generated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07224" y="3246119"/>
            <a:ext cx="1463040" cy="27432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24344" y="33375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F9F4"/>
                </a:solidFill>
                <a:latin typeface="Calibri"/>
              </a:rPr>
              <a:t>4 personalized
artifacts created
in seconds via
OpenAI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333756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7430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37192" y="1371600"/>
            <a:ext cx="2011680" cy="4114800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628632" y="1463040"/>
            <a:ext cx="512064" cy="512064"/>
          </a:xfrm>
          <a:prstGeom prst="ellipse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4692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DF9F4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37192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0A02"/>
                </a:solidFill>
                <a:latin typeface="Calibri"/>
              </a:rPr>
              <a:t>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28632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DF9F4"/>
                </a:solidFill>
                <a:latin typeface="Calibri"/>
              </a:rPr>
              <a:t>Caregiver
Delivers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11512" y="3246119"/>
            <a:ext cx="1463040" cy="27432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28632" y="33375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F9F4"/>
                </a:solidFill>
                <a:latin typeface="Calibri"/>
              </a:rPr>
              <a:t>Letter read aloud,
photos shown,
voice played,
guide followed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715000"/>
            <a:ext cx="11612880" cy="77724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E7248"/>
                </a:solidFill>
                <a:latin typeface="Calibri"/>
              </a:rPr>
              <a:t>All artifact generation happens server-side using OpenAI GPT-4o · No patient data leaves the local environment · Demo mode runs without API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40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5486400"/>
            <a:ext cx="2194560" cy="2194560"/>
          </a:xfrm>
          <a:prstGeom prst="ellipse">
            <a:avLst/>
          </a:prstGeom>
          <a:solidFill>
            <a:srgbClr val="351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DF9F4"/>
                </a:solidFill>
                <a:latin typeface="Georgia"/>
              </a:rPr>
              <a:t>The Four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E7248"/>
                </a:solidFill>
                <a:latin typeface="Calibri"/>
              </a:rPr>
              <a:t>Generated by GPT-4o · Personalized for every patient · Ready in under 60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743200" cy="4846320"/>
          </a:xfrm>
          <a:prstGeom prst="rect">
            <a:avLst/>
          </a:prstGeom>
          <a:solidFill>
            <a:srgbClr val="26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743200" cy="73152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463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0A02"/>
                </a:solidFill>
                <a:latin typeface="Calibri"/>
              </a:rPr>
              <a:t>✉️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87430"/>
                </a:solidFill>
                <a:latin typeface="Calibri"/>
              </a:rPr>
              <a:t>Family Letter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560320"/>
            <a:ext cx="252374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E9DC"/>
                </a:solidFill>
                <a:latin typeface="Calibri"/>
              </a:rPr>
              <a:t>A ~200-word personal letter written from the family member's voice — using real names, real places, and real memories. Warm, simple language. Read aloud by the caregiver at the start of the visit.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114800"/>
            <a:ext cx="2377440" cy="27432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Personalized to patient's first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360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Written in family member's 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6577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Based on submitted memories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9554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No medical language — pure warmth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82696" y="1325880"/>
            <a:ext cx="2743200" cy="4846320"/>
          </a:xfrm>
          <a:prstGeom prst="rect">
            <a:avLst/>
          </a:prstGeom>
          <a:solidFill>
            <a:srgbClr val="26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82696" y="1325880"/>
            <a:ext cx="2743200" cy="73152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82696" y="1463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0A02"/>
                </a:solidFill>
                <a:latin typeface="Calibri"/>
              </a:rPr>
              <a:t>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4C14"/>
                </a:solidFill>
                <a:latin typeface="Calibri"/>
              </a:rPr>
              <a:t>Voice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24" y="2560320"/>
            <a:ext cx="252374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E9DC"/>
                </a:solidFill>
                <a:latin typeface="Calibri"/>
              </a:rPr>
              <a:t>A 60–80 word spoken script — intimate and warm, like a phone message from a loved one. Recorded or read aloud. Hearing a familiar voice or voice-like message can anchor a patient in lucid clarity.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65576" y="4114800"/>
            <a:ext cx="2377440" cy="27432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19856" y="42062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60–80 words precisely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46360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Natural spoken 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9856" y="506577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References 1–2 specific memories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9856" y="549554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Ends with a warm closing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325880"/>
            <a:ext cx="2743200" cy="4846320"/>
          </a:xfrm>
          <a:prstGeom prst="rect">
            <a:avLst/>
          </a:prstGeom>
          <a:solidFill>
            <a:srgbClr val="26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45352" y="1325880"/>
            <a:ext cx="2743200" cy="73152"/>
          </a:xfrm>
          <a:prstGeom prst="rect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45352" y="1463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0A02"/>
                </a:solidFill>
                <a:latin typeface="Calibri"/>
              </a:rPr>
              <a:t>🖼️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A5E14"/>
                </a:solidFill>
                <a:latin typeface="Calibri"/>
              </a:rPr>
              <a:t>Photo 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560320"/>
            <a:ext cx="252374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E9DC"/>
                </a:solidFill>
                <a:latin typeface="Calibri"/>
              </a:rPr>
              <a:t>A PDF with family photos and caregiver-read captions. Each photo gets a 2–3 sentence caption — sensory, emotional, specific — designed to be read aloud while showing the photo to the patient.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8232" y="4114800"/>
            <a:ext cx="2377440" cy="27432"/>
          </a:xfrm>
          <a:prstGeom prst="rect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42062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One page per photo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6360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18pt+ accessible font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506577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Caption ties photo to a real memory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549554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Caregiver reads, patient sees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08008" y="1325880"/>
            <a:ext cx="2743200" cy="4846320"/>
          </a:xfrm>
          <a:prstGeom prst="rect">
            <a:avLst/>
          </a:prstGeom>
          <a:solidFill>
            <a:srgbClr val="26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208008" y="1325880"/>
            <a:ext cx="2743200" cy="73152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08008" y="1463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0A02"/>
                </a:solidFill>
                <a:latin typeface="Calibri"/>
              </a:rPr>
              <a:t>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A7A6E"/>
                </a:solidFill>
                <a:latin typeface="Calibri"/>
              </a:rPr>
              <a:t>Dialogue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2560320"/>
            <a:ext cx="252374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E9DC"/>
                </a:solidFill>
                <a:latin typeface="Calibri"/>
              </a:rPr>
              <a:t>A structured script for the caregiver: greeting, 5 memory prompts, photo sequence, what to do if distressed, and a gentle closing. Built entirely from the patient's emotional anchors and family memories.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90888" y="4114800"/>
            <a:ext cx="2377440" cy="27432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45168" y="42062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Opening &amp; closing scripts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5168" y="46360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5 tailored memory prompts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8" y="506577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Distress de-escalation script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5168" y="549554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F9F4"/>
                </a:solidFill>
                <a:latin typeface="Calibri"/>
              </a:rPr>
              <a:t>▸  Photo show sequence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DF9F4"/>
                </a:solidFill>
                <a:latin typeface="Georgia"/>
              </a:rPr>
              <a:t>Technology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E7248"/>
                </a:solidFill>
                <a:latin typeface="Calibri"/>
              </a:rPr>
              <a:t>FastAPI · OpenAI GPT-4o · fpdf2 · ElevenLabs · Single-Page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474720" cy="475488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474720" cy="54864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A7A6E"/>
                </a:solidFill>
                <a:latin typeface="Calibri"/>
              </a:rPr>
              <a:t>🌐 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Vanilla JS Single-Page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7 screens, no page reload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Server-Sent Events (SSE)
for live job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Streaming chat UI
(token-by-token display)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Drag-and-drop photo/
voice file uploads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Warm light theme
(CSS custom properties)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Back/Forward navigation
(history stack)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417320"/>
            <a:ext cx="3657600" cy="475488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60520" y="1417320"/>
            <a:ext cx="3657600" cy="54864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7430"/>
                </a:solidFill>
                <a:latin typeface="Calibri"/>
              </a:rPr>
              <a:t>⚙️  Backend (FastAPI)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10312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Python · FastAPI · Uvicorn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65176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REST API + SSE streaming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20040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Background thread pool
for blocking AI calls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74904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Memory bank (JSON store)
for patient profiles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29768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File serving for PDFs
and photos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84632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CORS middleware for
local dev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39496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Demo mode fallback
(no API key needed)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417320"/>
            <a:ext cx="3749039" cy="475488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1417320"/>
            <a:ext cx="3749039" cy="54864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155448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04C14"/>
                </a:solidFill>
                <a:latin typeface="Calibri"/>
              </a:rPr>
              <a:t>🤖  AI &amp; Output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103120"/>
            <a:ext cx="34747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OpenAI GPT-4o
(artifact generation)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651760"/>
            <a:ext cx="34747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GPT-4o streaming
(caretaker chat)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200400"/>
            <a:ext cx="34747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fpdf2 — PDF generation
for all 4 artifacts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749040"/>
            <a:ext cx="34747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Pillow — photo embedding
in photo story 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297680"/>
            <a:ext cx="34747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ElevenLabs (optional)
text-to-speech voice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846320"/>
            <a:ext cx="34747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Per-patient context
injected into every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394960"/>
            <a:ext cx="34747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9F4"/>
                </a:solidFill>
                <a:latin typeface="Calibri"/>
              </a:rPr>
              <a:t>•  JSON-structured outputs
with markdown stripping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34290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87430"/>
                </a:solidFill>
                <a:latin typeface="Calibri"/>
              </a:rPr>
              <a:t>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34290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87430"/>
                </a:solidFill>
                <a:latin typeface="Calibri"/>
              </a:rPr>
              <a:t>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E7248"/>
                </a:solidFill>
                <a:latin typeface="Calibri"/>
              </a:rPr>
              <a:t>Data flow: Browser ↔ FastAPI (REST + SSE) ↔ Agent (GPT-4o) → PDF Generators → File Store → Browser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DF9F4"/>
                </a:solidFill>
                <a:latin typeface="Georgia"/>
              </a:rPr>
              <a:t>Impact &amp; Value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0" cy="3657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669280" cy="914400"/>
          </a:xfrm>
          <a:prstGeom prst="rect">
            <a:avLst/>
          </a:prstGeom>
          <a:solidFill>
            <a:srgbClr val="26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04C14"/>
                </a:solidFill>
                <a:latin typeface="Georgia"/>
              </a:rPr>
              <a:t>&lt; 60s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143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F9F4"/>
                </a:solidFill>
                <a:latin typeface="Calibri"/>
              </a:rPr>
              <a:t>Full care package generated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3619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E7248"/>
                </a:solidFill>
                <a:latin typeface="Calibri"/>
              </a:rPr>
              <a:t>Letter · Voice · Photos · Dialogue guide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5669280" cy="914400"/>
          </a:xfrm>
          <a:prstGeom prst="rect">
            <a:avLst/>
          </a:prstGeom>
          <a:solidFill>
            <a:srgbClr val="26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1488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87430"/>
                </a:solidFill>
                <a:latin typeface="Georgia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48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F9F4"/>
                </a:solidFill>
                <a:latin typeface="Calibri"/>
              </a:rPr>
              <a:t>Personalized to each 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420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E7248"/>
                </a:solidFill>
                <a:latin typeface="Calibri"/>
              </a:rPr>
              <a:t>Every prompt grounded in real family memories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108960"/>
            <a:ext cx="5669280" cy="914400"/>
          </a:xfrm>
          <a:prstGeom prst="rect">
            <a:avLst/>
          </a:prstGeom>
          <a:solidFill>
            <a:srgbClr val="26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15468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9A5E14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546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F9F4"/>
                </a:solidFill>
                <a:latin typeface="Calibri"/>
              </a:rPr>
              <a:t>Artifacts per Lucid Now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478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E7248"/>
                </a:solidFill>
                <a:latin typeface="Calibri"/>
              </a:rPr>
              <a:t>Each designed for a different care touchpoint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114800"/>
            <a:ext cx="5669280" cy="914400"/>
          </a:xfrm>
          <a:prstGeom prst="rect">
            <a:avLst/>
          </a:prstGeom>
          <a:solidFill>
            <a:srgbClr val="26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1605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A7A6E"/>
                </a:solidFill>
                <a:latin typeface="Georgia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1605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F9F4"/>
                </a:solidFill>
                <a:latin typeface="Calibri"/>
              </a:rPr>
              <a:t>Extra tools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55371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E7248"/>
                </a:solidFill>
                <a:latin typeface="Calibri"/>
              </a:rPr>
              <a:t>One web app — works on any device, any browser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120640"/>
            <a:ext cx="5669280" cy="914400"/>
          </a:xfrm>
          <a:prstGeom prst="rect">
            <a:avLst/>
          </a:prstGeom>
          <a:solidFill>
            <a:srgbClr val="26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51663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8030"/>
                </a:solidFill>
                <a:latin typeface="Georgia"/>
              </a:rPr>
              <a:t>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1663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F9F4"/>
                </a:solidFill>
                <a:latin typeface="Calibri"/>
              </a:rPr>
              <a:t>Patient profiles supported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55955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E7248"/>
                </a:solidFill>
                <a:latin typeface="Calibri"/>
              </a:rPr>
              <a:t>Add, edit, delete anytime through the web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960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87430"/>
                </a:solidFill>
                <a:latin typeface="Georgia"/>
              </a:rPr>
              <a:t>Who Benefits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600200"/>
            <a:ext cx="5486400" cy="1097280"/>
          </a:xfrm>
          <a:prstGeom prst="rect">
            <a:avLst/>
          </a:prstGeom>
          <a:solidFill>
            <a:srgbClr val="2A1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16916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0A02"/>
                </a:solidFill>
                <a:latin typeface="Calibri"/>
              </a:rPr>
              <a:t>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16916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7430"/>
                </a:solidFill>
                <a:latin typeface="Calibri"/>
              </a:rPr>
              <a:t>Patients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20574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E9DC"/>
                </a:solidFill>
                <a:latin typeface="Calibri"/>
              </a:rPr>
              <a:t>Experience more meaningful interactions during their most precious windows of clarity.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34640"/>
            <a:ext cx="5486400" cy="1097280"/>
          </a:xfrm>
          <a:prstGeom prst="rect">
            <a:avLst/>
          </a:prstGeom>
          <a:solidFill>
            <a:srgbClr val="2A1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0A02"/>
                </a:solidFill>
                <a:latin typeface="Calibri"/>
              </a:rPr>
              <a:t>👨‍👩‍👧‍👦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9260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7430"/>
                </a:solidFill>
                <a:latin typeface="Calibri"/>
              </a:rPr>
              <a:t>Families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2918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E9DC"/>
                </a:solidFill>
                <a:latin typeface="Calibri"/>
              </a:rPr>
              <a:t>Know their memories and love will be delivered exactly when it matters most.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069080"/>
            <a:ext cx="5486400" cy="1097280"/>
          </a:xfrm>
          <a:prstGeom prst="rect">
            <a:avLst/>
          </a:prstGeom>
          <a:solidFill>
            <a:srgbClr val="2A1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41605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0A02"/>
                </a:solidFill>
                <a:latin typeface="Calibri"/>
              </a:rPr>
              <a:t>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41605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7430"/>
                </a:solidFill>
                <a:latin typeface="Calibri"/>
              </a:rPr>
              <a:t>Caregivers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5262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E9DC"/>
                </a:solidFill>
                <a:latin typeface="Calibri"/>
              </a:rPr>
              <a:t>Enter every lucid moment with a structured, personalized plan — confident and prepared.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303520"/>
            <a:ext cx="5486400" cy="1097280"/>
          </a:xfrm>
          <a:prstGeom prst="rect">
            <a:avLst/>
          </a:prstGeom>
          <a:solidFill>
            <a:srgbClr val="2A1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53949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0A02"/>
                </a:solidFill>
                <a:latin typeface="Calibri"/>
              </a:rPr>
              <a:t>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53949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7430"/>
                </a:solidFill>
                <a:latin typeface="Calibri"/>
              </a:rPr>
              <a:t>AI Systems Field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57607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E9DC"/>
                </a:solidFill>
                <a:latin typeface="Calibri"/>
              </a:rPr>
              <a:t>A real-world agentic AI application with clear, measurable human impact.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6492240"/>
            <a:ext cx="5486400" cy="3657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975104" y="-685800"/>
            <a:ext cx="8229600" cy="8229600"/>
          </a:xfrm>
          <a:prstGeom prst="ellipse">
            <a:avLst/>
          </a:prstGeom>
          <a:solidFill>
            <a:srgbClr val="28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346704" y="685800"/>
            <a:ext cx="5486400" cy="5486400"/>
          </a:xfrm>
          <a:prstGeom prst="ellipse">
            <a:avLst/>
          </a:prstGeom>
          <a:solidFill>
            <a:srgbClr val="351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626864" y="1965960"/>
            <a:ext cx="2926080" cy="2926080"/>
          </a:xfrm>
          <a:prstGeom prst="ellipse">
            <a:avLst/>
          </a:prstGeom>
          <a:solidFill>
            <a:srgbClr val="482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13716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1A0A02"/>
                </a:solidFill>
                <a:latin typeface="Calibri"/>
              </a:rPr>
              <a:t>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37744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B87430"/>
                </a:solidFill>
                <a:latin typeface="Georgia"/>
              </a:rPr>
              <a:t>Hearth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2E9DC"/>
                </a:solidFill>
                <a:latin typeface="Calibri Light"/>
              </a:rPr>
              <a:t>When a lucid moment happens — be ready.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977639"/>
            <a:ext cx="5788152" cy="3657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E7248"/>
                </a:solidFill>
                <a:latin typeface="Calibri"/>
              </a:rPr>
              <a:t>Built with  FastAPI · OpenAI GPT-4o · fpdf2 · Pillow · ElevenLabs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E7248"/>
                </a:solidFill>
                <a:latin typeface="Calibri"/>
              </a:rPr>
              <a:t>BUAN 6V99 — AI Agentic Systems  ·  Spring 2026  ·  Nikhil Gajula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6692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8A060"/>
                </a:solidFill>
                <a:latin typeface="Georgia"/>
              </a:rPr>
              <a:t>"Technology in service of the most human moments."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1248</Words>
  <Application>Microsoft Office PowerPoint</Application>
  <PresentationFormat>Custom</PresentationFormat>
  <Paragraphs>196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Gajula, Nikhil</cp:lastModifiedBy>
  <cp:revision>2</cp:revision>
  <dcterms:created xsi:type="dcterms:W3CDTF">2013-01-27T09:14:16Z</dcterms:created>
  <dcterms:modified xsi:type="dcterms:W3CDTF">2026-04-22T02:21:38Z</dcterms:modified>
  <cp:category/>
</cp:coreProperties>
</file>