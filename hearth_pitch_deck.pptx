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A61110-671D-42E6-A7BC-5AD64B4AD1C2}" type="datetimeFigureOut">
              <a:rPr lang="en-IN" smtClean="0"/>
              <a:t>21-04-2026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E7D1B-FA20-4376-8DFD-2C304B2C836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70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6E7D1B-FA20-4376-8DFD-2C304B2C836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451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87868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i="1" dirty="0">
                <a:solidFill>
                  <a:srgbClr val="9E7248"/>
                </a:solidFill>
              </a:rPr>
              <a:t>BUAN 6V99 · Agentic AI &amp; Process Automation</a:t>
            </a:r>
            <a:endParaRPr b="0" i="1" dirty="0">
              <a:solidFill>
                <a:srgbClr val="9E7248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9224" y="629412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 dirty="0">
                <a:solidFill>
                  <a:srgbClr val="B87430"/>
                </a:solidFill>
                <a:latin typeface="Georgia"/>
              </a:rPr>
              <a:t>Hearth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2088106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 dirty="0">
                <a:solidFill>
                  <a:srgbClr val="6A4220"/>
                </a:solidFill>
                <a:latin typeface="Calibri Light"/>
              </a:rPr>
              <a:t>An AI-Powered Memory Companion for Alzheimer's Caregivers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697480"/>
            <a:ext cx="6217920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" y="2834640"/>
            <a:ext cx="804672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solidFill>
                  <a:srgbClr val="261508"/>
                </a:solidFill>
                <a:latin typeface="Calibri"/>
              </a:rPr>
              <a:t>When a lucid moment happens -- be ready.</a:t>
            </a:r>
          </a:p>
          <a:p>
            <a:pPr algn="l"/>
            <a:endParaRPr sz="2000" b="0" i="1" dirty="0">
              <a:solidFill>
                <a:srgbClr val="261508"/>
              </a:solidFill>
              <a:latin typeface="Calibri"/>
            </a:endParaRPr>
          </a:p>
          <a:p>
            <a:pPr algn="l"/>
            <a:r>
              <a:rPr b="0" i="0" dirty="0">
                <a:solidFill>
                  <a:srgbClr val="6A4220"/>
                </a:solidFill>
                <a:latin typeface="Calibri"/>
              </a:rPr>
              <a:t>Hearth uses OpenAI GPT-4o to generate a personalized care package in seconds:</a:t>
            </a:r>
          </a:p>
          <a:p>
            <a:pPr algn="l"/>
            <a:r>
              <a:rPr b="0" i="0" dirty="0">
                <a:solidFill>
                  <a:srgbClr val="6A4220"/>
                </a:solidFill>
                <a:latin typeface="Calibri"/>
              </a:rPr>
              <a:t>a family letter, a voice message, a photo story, and a caregiver dialogue guide.</a:t>
            </a:r>
          </a:p>
          <a:p>
            <a:pPr algn="l"/>
            <a:endParaRPr b="0" i="0" dirty="0">
              <a:solidFill>
                <a:srgbClr val="6A4220"/>
              </a:solidFill>
              <a:latin typeface="Calibri"/>
            </a:endParaRPr>
          </a:p>
          <a:p>
            <a:pPr algn="l"/>
            <a:r>
              <a:rPr b="0" i="1" dirty="0">
                <a:solidFill>
                  <a:srgbClr val="9E7248"/>
                </a:solidFill>
                <a:latin typeface="Calibri"/>
              </a:rPr>
              <a:t>Built for caregivers. Grounded in real family memories. Ready before the window closes.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798064" y="6397228"/>
            <a:ext cx="11594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>
                <a:solidFill>
                  <a:srgbClr val="9E7248"/>
                </a:solidFill>
              </a:rPr>
              <a:t>Radhey Mutha  · Nikhil Gajula  ·  Muneeb Ahmed</a:t>
            </a:r>
            <a:endParaRPr b="0" i="0" dirty="0">
              <a:solidFill>
                <a:srgbClr val="9E7248"/>
              </a:solidFill>
              <a:latin typeface="Calibri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3EC1BB-7AB2-4ED3-065C-214384931254}"/>
              </a:ext>
            </a:extLst>
          </p:cNvPr>
          <p:cNvSpPr txBox="1"/>
          <p:nvPr/>
        </p:nvSpPr>
        <p:spPr>
          <a:xfrm>
            <a:off x="640080" y="5935563"/>
            <a:ext cx="8229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9E7248"/>
                </a:solidFill>
              </a:rPr>
              <a:t>Group 14 · The Peter Pan Posse</a:t>
            </a:r>
            <a:endParaRPr sz="2400" b="0" i="1" dirty="0">
              <a:solidFill>
                <a:srgbClr val="9E7248"/>
              </a:solidFill>
              <a:latin typeface="Calibri"/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AD162E9-D8BE-7C04-3BB0-BA5CC70374DA}"/>
              </a:ext>
            </a:extLst>
          </p:cNvPr>
          <p:cNvSpPr/>
          <p:nvPr/>
        </p:nvSpPr>
        <p:spPr>
          <a:xfrm>
            <a:off x="8229600" y="-548640"/>
            <a:ext cx="3291840" cy="3291840"/>
          </a:xfrm>
          <a:prstGeom prst="ellipse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3ADDDA5-0E38-17A9-4F68-E1B7B465764E}"/>
              </a:ext>
            </a:extLst>
          </p:cNvPr>
          <p:cNvSpPr/>
          <p:nvPr/>
        </p:nvSpPr>
        <p:spPr>
          <a:xfrm>
            <a:off x="9418320" y="1188720"/>
            <a:ext cx="2194560" cy="2194560"/>
          </a:xfrm>
          <a:prstGeom prst="ellipse">
            <a:avLst/>
          </a:prstGeom>
          <a:solidFill>
            <a:srgbClr val="D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ED249EB-44B2-87CD-9871-3A59D81385F2}"/>
              </a:ext>
            </a:extLst>
          </p:cNvPr>
          <p:cNvSpPr/>
          <p:nvPr/>
        </p:nvSpPr>
        <p:spPr>
          <a:xfrm>
            <a:off x="10332720" y="274320"/>
            <a:ext cx="1280160" cy="1280160"/>
          </a:xfrm>
          <a:prstGeom prst="ellipse">
            <a:avLst/>
          </a:prstGeom>
          <a:solidFill>
            <a:srgbClr val="E89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02D01B2-5F18-7359-4E76-3687400D1ADF}"/>
              </a:ext>
            </a:extLst>
          </p:cNvPr>
          <p:cNvSpPr/>
          <p:nvPr/>
        </p:nvSpPr>
        <p:spPr>
          <a:xfrm>
            <a:off x="8503920" y="1737360"/>
            <a:ext cx="1645920" cy="1645920"/>
          </a:xfrm>
          <a:prstGeom prst="ellipse">
            <a:avLst/>
          </a:prstGeom>
          <a:solidFill>
            <a:srgbClr val="A04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5057" y="169029"/>
            <a:ext cx="11247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261508"/>
                </a:solidFill>
                <a:latin typeface="Georgia"/>
              </a:rPr>
              <a:t>Alzheimer's Disease -- 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057" y="690259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9E7248"/>
                </a:solidFill>
                <a:latin typeface="Calibri"/>
              </a:rPr>
              <a:t>The scale of the challenge and why families are caught unprepared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98448"/>
            <a:ext cx="21031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8912" y="13898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D04C14"/>
                </a:solidFill>
                <a:latin typeface="Georgia"/>
              </a:rPr>
              <a:t>55M+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1671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1508"/>
                </a:solidFill>
                <a:latin typeface="Calibri"/>
              </a:rPr>
              <a:t>People living
with dementia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596896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9E7248"/>
                </a:solidFill>
                <a:latin typeface="Calibri"/>
              </a:rPr>
              <a:t>Worldwide (WHO 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8336" y="1298448"/>
            <a:ext cx="21031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79776" y="13898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7430"/>
                </a:solidFill>
                <a:latin typeface="Georgia"/>
              </a:rPr>
              <a:t>6.9M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9776" y="21671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1508"/>
                </a:solidFill>
                <a:latin typeface="Calibri"/>
              </a:rPr>
              <a:t>Americans with
Alzheimer's disease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776" y="2596896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9E7248"/>
                </a:solidFill>
                <a:latin typeface="Calibri"/>
              </a:rPr>
              <a:t>Expected 13M by 2050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298448"/>
            <a:ext cx="21031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13898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9A5E14"/>
                </a:solidFill>
                <a:latin typeface="Georgia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1671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1508"/>
                </a:solidFill>
                <a:latin typeface="Calibri"/>
              </a:rPr>
              <a:t>Most common
form of dementia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596896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9E7248"/>
                </a:solidFill>
                <a:latin typeface="Calibri"/>
              </a:rPr>
              <a:t>60-70% of all cases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70064" y="1298448"/>
            <a:ext cx="21031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61504" y="13898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A7A6E"/>
                </a:solidFill>
                <a:latin typeface="Georgia"/>
              </a:rPr>
              <a:t>$360B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1671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1508"/>
                </a:solidFill>
                <a:latin typeface="Calibri"/>
              </a:rPr>
              <a:t>Annual care cost
in the United States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1504" y="2596896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9E7248"/>
                </a:solidFill>
                <a:latin typeface="Calibri"/>
              </a:rPr>
              <a:t>Lost productivity incl.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10928" y="1298448"/>
            <a:ext cx="21031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02368" y="13898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A4220"/>
                </a:solidFill>
                <a:latin typeface="Georgia"/>
              </a:rPr>
              <a:t>11M+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21671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1508"/>
                </a:solidFill>
                <a:latin typeface="Calibri"/>
              </a:rPr>
              <a:t>Unpaid U.S.
caregivers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596896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9E7248"/>
                </a:solidFill>
                <a:latin typeface="Calibri"/>
              </a:rPr>
              <a:t>18.4 billion </a:t>
            </a:r>
            <a:r>
              <a:rPr sz="1000" b="0" i="1" dirty="0" err="1">
                <a:solidFill>
                  <a:srgbClr val="9E7248"/>
                </a:solidFill>
                <a:latin typeface="Calibri"/>
              </a:rPr>
              <a:t>hrs</a:t>
            </a:r>
            <a:r>
              <a:rPr sz="1000" b="0" i="1" dirty="0">
                <a:solidFill>
                  <a:srgbClr val="9E7248"/>
                </a:solidFill>
                <a:latin typeface="Calibri"/>
              </a:rPr>
              <a:t>/year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3200400"/>
            <a:ext cx="1147572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" y="3291840"/>
            <a:ext cx="6400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6A4220"/>
                </a:solidFill>
                <a:latin typeface="Calibri"/>
              </a:rPr>
              <a:t>U.S. Alzheimer's Stage Distribution (estimated)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3703320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6A4220"/>
                </a:solidFill>
                <a:latin typeface="Calibri"/>
              </a:rPr>
              <a:t>Mild / Early Stage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739896"/>
            <a:ext cx="6217920" cy="27432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331720" y="3739896"/>
            <a:ext cx="2176272" cy="274320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386584" y="3745822"/>
            <a:ext cx="62179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FFFFFF"/>
                </a:solidFill>
                <a:latin typeface="Calibri"/>
              </a:rPr>
              <a:t>35%  ~2.4 Million people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" y="4270248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6A4220"/>
                </a:solidFill>
                <a:latin typeface="Calibri"/>
              </a:rPr>
              <a:t>Moderate Stage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306824"/>
            <a:ext cx="6217920" cy="27432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331720" y="4306824"/>
            <a:ext cx="2487168" cy="274320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59152" y="4313459"/>
            <a:ext cx="62179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FFFFFF"/>
                </a:solidFill>
                <a:latin typeface="Calibri"/>
              </a:rPr>
              <a:t>40%  ~2.8 Million people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" y="4837176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6A4220"/>
                </a:solidFill>
                <a:latin typeface="Calibri"/>
              </a:rPr>
              <a:t>Severe / Late Stage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873752"/>
            <a:ext cx="6217920" cy="27432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331720" y="4873752"/>
            <a:ext cx="1554480" cy="274320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359152" y="4880387"/>
            <a:ext cx="62179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FFFFFF"/>
                </a:solidFill>
                <a:latin typeface="Calibri"/>
              </a:rPr>
              <a:t>25%  ~1.7 Million people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3200400"/>
            <a:ext cx="30632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778240" y="3200400"/>
            <a:ext cx="3063240" cy="54864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942832" y="3378481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9A5E14"/>
                </a:solidFill>
                <a:latin typeface="Calibri"/>
              </a:rPr>
              <a:t>Key Facts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2832" y="3749039"/>
            <a:ext cx="2788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▸  New diagnosis every 3 seconds (global)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4178807"/>
            <a:ext cx="2788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▸  Most common in adults over 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42832" y="4608575"/>
            <a:ext cx="2788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▸  Average survival 4-8 years post-diagnosis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5038343"/>
            <a:ext cx="2788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▸  Two-thirds of patients are women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5468111"/>
            <a:ext cx="2788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▸  Cases will nearly triple by 2050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2832" y="5897879"/>
            <a:ext cx="2788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▸  No cure exists -- care is the intervention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Lucid Moments -- The Window of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" y="706148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9E7248"/>
                </a:solidFill>
                <a:latin typeface="Calibri"/>
              </a:rPr>
              <a:t>Unexpected, brief, precious -- and almost always wasted without 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5120640" cy="502920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61508"/>
                </a:solidFill>
                <a:latin typeface="Georgia"/>
              </a:rPr>
              <a:t>What is a Lucid Moment?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4800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 i="0" dirty="0">
                <a:solidFill>
                  <a:srgbClr val="6A4220"/>
                </a:solidFill>
                <a:latin typeface="Calibri"/>
              </a:rPr>
              <a:t>A lucid moment is a sudden, temporary period of mental clarity in a person with Alzheimer's or dementia -- when they recognize loved ones, recall memories, and communicate meaningfully.
These windows can last anywhere from a few minutes to several hours. They are completely unpredictable. They are deeply precious. And most families are caught entirely unprepared.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23360"/>
            <a:ext cx="4663440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16052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04C14"/>
                </a:solidFill>
                <a:latin typeface="Georgia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39" y="4224528"/>
            <a:ext cx="374903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of caregivers say they felt unprepared
when a lucid moment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45736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B87430"/>
                </a:solidFill>
                <a:latin typeface="Georgia"/>
              </a:rPr>
              <a:t>15-45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45736"/>
            <a:ext cx="374903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average minutes of clarity before
confusion returns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30952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A5E14"/>
                </a:solidFill>
                <a:latin typeface="Georgia"/>
              </a:rPr>
              <a:t>2-4x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74247"/>
            <a:ext cx="374903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A4220"/>
                </a:solidFill>
                <a:latin typeface="Calibri"/>
              </a:rPr>
              <a:t>more lucid moments occur in the
early morning than other times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298448"/>
            <a:ext cx="6126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61508"/>
                </a:solidFill>
                <a:latin typeface="Calibri"/>
              </a:rPr>
              <a:t>What Families Face Without Preparation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737360"/>
            <a:ext cx="6035040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760720" y="1874519"/>
            <a:ext cx="6080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60720" y="1874519"/>
            <a:ext cx="54864" cy="1005840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0" y="1947671"/>
            <a:ext cx="5760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61508"/>
                </a:solidFill>
                <a:latin typeface="Calibri"/>
              </a:rPr>
              <a:t>Scrambling for 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313431"/>
            <a:ext cx="5760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A4220"/>
                </a:solidFill>
                <a:latin typeface="Calibri"/>
              </a:rPr>
              <a:t>No prepared message ready. Caregivers freeze. Families freeze. The silence is painful.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990087"/>
            <a:ext cx="6080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760720" y="2990087"/>
            <a:ext cx="54864" cy="1005840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0" y="3063239"/>
            <a:ext cx="5760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61508"/>
                </a:solidFill>
                <a:latin typeface="Calibri"/>
              </a:rPr>
              <a:t>No photos or stories at hand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28999"/>
            <a:ext cx="5760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A4220"/>
                </a:solidFill>
                <a:latin typeface="Calibri"/>
              </a:rPr>
              <a:t>Meaningful memories live in family members' heads -- nowhere near the patient when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05655"/>
            <a:ext cx="6080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760720" y="4105655"/>
            <a:ext cx="54864" cy="1005840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0" y="4178807"/>
            <a:ext cx="5760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61508"/>
                </a:solidFill>
                <a:latin typeface="Calibri"/>
              </a:rPr>
              <a:t>No shared context between caregivers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44567"/>
            <a:ext cx="5760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A4220"/>
                </a:solidFill>
                <a:latin typeface="Calibri"/>
              </a:rPr>
              <a:t>Each staff member interacts differently. No one knows what soothes this specific patient.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5221223"/>
            <a:ext cx="6080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760720" y="5221223"/>
            <a:ext cx="54864" cy="1005840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0" y="5294375"/>
            <a:ext cx="5760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61508"/>
                </a:solidFill>
                <a:latin typeface="Calibri"/>
              </a:rPr>
              <a:t>The window closes before connection happens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660135"/>
            <a:ext cx="5760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A4220"/>
                </a:solidFill>
                <a:latin typeface="Calibri"/>
              </a:rPr>
              <a:t>By the time families gather their thoughts, the patient has drifted back into confusion.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69113" y="224899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How Hearth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113" y="685461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9E7248"/>
                </a:solidFill>
                <a:latin typeface="Calibri"/>
              </a:rPr>
              <a:t>From family memories to a care-ready package -- in under 60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1298448"/>
            <a:ext cx="2011680" cy="438912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38328" y="1298448"/>
            <a:ext cx="2011680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3192" y="1408176"/>
            <a:ext cx="548640" cy="548640"/>
          </a:xfrm>
          <a:prstGeom prst="ellipse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8882" y="15444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938528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B87430"/>
                </a:solidFill>
                <a:latin typeface="Calibri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24328"/>
            <a:ext cx="18653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61508"/>
                </a:solidFill>
                <a:latin typeface="Calibri"/>
              </a:rPr>
              <a:t>Family
Registers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3200400"/>
            <a:ext cx="1463040" cy="27432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3291840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6A4220"/>
                </a:solidFill>
                <a:latin typeface="Calibri"/>
              </a:rPr>
              <a:t>Caregiver or family
member opens Hearth
web app and adds
patient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127248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24328" y="1298448"/>
            <a:ext cx="2011680" cy="438912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24328" y="1298448"/>
            <a:ext cx="2011680" cy="64008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679192" y="1408176"/>
            <a:ext cx="548640" cy="548640"/>
          </a:xfrm>
          <a:prstGeom prst="ellipse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04882" y="15444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4328" y="1938528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9A5E14"/>
                </a:solidFill>
                <a:latin typeface="Calibri"/>
              </a:rPr>
              <a:t>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624328"/>
            <a:ext cx="18653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1508"/>
                </a:solidFill>
                <a:latin typeface="Calibri"/>
              </a:rPr>
              <a:t>Memories
Submitted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200400"/>
            <a:ext cx="1463040" cy="27432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5768" y="3291840"/>
            <a:ext cx="1828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6A4220"/>
                </a:solidFill>
                <a:latin typeface="Calibri"/>
              </a:rPr>
              <a:t>Family shares memories,
upload photos, and
record voice samples
through the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127248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10328" y="1298448"/>
            <a:ext cx="2011680" cy="438912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10328" y="1298448"/>
            <a:ext cx="2011680" cy="64008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965192" y="1408176"/>
            <a:ext cx="548640" cy="548640"/>
          </a:xfrm>
          <a:prstGeom prst="ellipse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90882" y="15444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0328" y="1938528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D04C14"/>
                </a:solidFill>
                <a:latin typeface="Calibri"/>
              </a:rPr>
              <a:t>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2624328"/>
            <a:ext cx="18653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1508"/>
                </a:solidFill>
                <a:latin typeface="Calibri"/>
              </a:rPr>
              <a:t>Lucid Now
Triggered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648" y="3200400"/>
            <a:ext cx="1463040" cy="27432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40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6A4220"/>
                </a:solidFill>
                <a:latin typeface="Calibri"/>
              </a:rPr>
              <a:t>When a lucid moment
begins, caregiver taps
'Lucid Now' -- starting
the AI 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127248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6328" y="1298448"/>
            <a:ext cx="2011680" cy="438912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196328" y="1298448"/>
            <a:ext cx="2011680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251192" y="1408176"/>
            <a:ext cx="548640" cy="548640"/>
          </a:xfrm>
          <a:prstGeom prst="ellipse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276882" y="15444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1938528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A7A6E"/>
                </a:solidFill>
                <a:latin typeface="Calibri"/>
              </a:rPr>
              <a:t>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624328"/>
            <a:ext cx="18653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1508"/>
                </a:solidFill>
                <a:latin typeface="Calibri"/>
              </a:rPr>
              <a:t>GPT-4o
Generates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0648" y="3200400"/>
            <a:ext cx="1463040" cy="27432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87768" y="3291840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6A4220"/>
                </a:solidFill>
                <a:latin typeface="Calibri"/>
              </a:rPr>
              <a:t>OpenAI GPT-4o reads
all memories and
creates 4 personalized
artifacts in seconds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3127248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82328" y="1298448"/>
            <a:ext cx="2011680" cy="438912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482328" y="1298448"/>
            <a:ext cx="2011680" cy="64008"/>
          </a:xfrm>
          <a:prstGeom prst="rect">
            <a:avLst/>
          </a:prstGeom>
          <a:solidFill>
            <a:srgbClr val="6A4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9537192" y="1408176"/>
            <a:ext cx="548640" cy="548640"/>
          </a:xfrm>
          <a:prstGeom prst="ellipse">
            <a:avLst/>
          </a:prstGeom>
          <a:solidFill>
            <a:srgbClr val="6A4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562882" y="15444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82328" y="1938528"/>
            <a:ext cx="2011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6A4220"/>
                </a:solidFill>
                <a:latin typeface="Calibri"/>
              </a:rPr>
              <a:t>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2624328"/>
            <a:ext cx="18653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1508"/>
                </a:solidFill>
                <a:latin typeface="Calibri"/>
              </a:rPr>
              <a:t>Caregiver
Delivers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56648" y="3200400"/>
            <a:ext cx="1463040" cy="27432"/>
          </a:xfrm>
          <a:prstGeom prst="rect">
            <a:avLst/>
          </a:prstGeom>
          <a:solidFill>
            <a:srgbClr val="6A4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573768" y="3291840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6A4220"/>
                </a:solidFill>
                <a:latin typeface="Calibri"/>
              </a:rPr>
              <a:t>Letter read aloud,
photo story shown,
voice played, guide
followed -- together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0040" y="6103620"/>
            <a:ext cx="11475720" cy="502920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1993" y="6246352"/>
            <a:ext cx="11064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 dirty="0">
                <a:solidFill>
                  <a:srgbClr val="9E7248"/>
                </a:solidFill>
                <a:latin typeface="Calibri"/>
              </a:rPr>
              <a:t>All processing is server-side  |  OpenAI GPT-4o powers every artifact</a:t>
            </a:r>
            <a:r>
              <a:rPr lang="en-IN" sz="1100" i="1" dirty="0">
                <a:solidFill>
                  <a:srgbClr val="9E7248"/>
                </a:solidFill>
                <a:latin typeface="Calibri"/>
              </a:rPr>
              <a:t>s</a:t>
            </a:r>
            <a:endParaRPr sz="1100" b="0" i="1" dirty="0">
              <a:solidFill>
                <a:srgbClr val="9E724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192024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261508"/>
                </a:solidFill>
                <a:latin typeface="Georgia"/>
              </a:rPr>
              <a:t>The Four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85461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9E7248"/>
                </a:solidFill>
                <a:latin typeface="Calibri"/>
              </a:rPr>
              <a:t>Personalized for every patient -- generated by GPT-4o from real family memories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1298448"/>
            <a:ext cx="27432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9184" y="1298448"/>
            <a:ext cx="2743200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280160" y="1517904"/>
            <a:ext cx="841248" cy="841248"/>
          </a:xfrm>
          <a:prstGeom prst="ellipse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16877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 dirty="0">
                <a:solidFill>
                  <a:srgbClr val="B87430"/>
                </a:solidFill>
                <a:latin typeface="Calibri"/>
              </a:rPr>
              <a:t>✉️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261508"/>
                </a:solidFill>
                <a:latin typeface="Calibri"/>
              </a:rPr>
              <a:t>Family Letter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2528316"/>
            <a:ext cx="2286000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2748093"/>
            <a:ext cx="25237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A4220"/>
                </a:solidFill>
                <a:latin typeface="Calibri"/>
              </a:rPr>
              <a:t>A ~200-word letter written in the family member's voice, using real names, places, and shared memories. Warm and simple -- read aloud by the caregiver to open the visit.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" y="4315968"/>
            <a:ext cx="228600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4256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Written in family member's 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828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Real names &amp; places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400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~200 words, print-ready 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972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No medical language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1298448"/>
            <a:ext cx="27432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91840" y="1298448"/>
            <a:ext cx="2743200" cy="64008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242816" y="1517904"/>
            <a:ext cx="841248" cy="841248"/>
          </a:xfrm>
          <a:prstGeom prst="ellipse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91840" y="16877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 dirty="0">
                <a:solidFill>
                  <a:srgbClr val="9A5E14"/>
                </a:solidFill>
                <a:latin typeface="Calibri"/>
              </a:rPr>
              <a:t>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1508"/>
                </a:solidFill>
                <a:latin typeface="Calibri"/>
              </a:rPr>
              <a:t>Voice Message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2542032"/>
            <a:ext cx="2286000" cy="36576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01568" y="2651760"/>
            <a:ext cx="25237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A4220"/>
                </a:solidFill>
                <a:latin typeface="Calibri"/>
              </a:rPr>
              <a:t>A 60-80 word spoken script -- intimate and warm, like a voicemail from a loved one. Can be read aloud or recorded. Hearing a familiar voice anchors the patient in the moment.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315968"/>
            <a:ext cx="228600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19856" y="44256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Exactly 60-80 words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48828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Natural spoken language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53400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Specific memory references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9856" y="57972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Warm, personal closing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4496" y="1298448"/>
            <a:ext cx="27432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54496" y="1298448"/>
            <a:ext cx="2743200" cy="64008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205472" y="1517904"/>
            <a:ext cx="841248" cy="841248"/>
          </a:xfrm>
          <a:prstGeom prst="ellipse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54496" y="16877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 dirty="0">
                <a:solidFill>
                  <a:srgbClr val="D04C14"/>
                </a:solidFill>
                <a:latin typeface="Calibri"/>
              </a:rPr>
              <a:t>🖼️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261508"/>
                </a:solidFill>
                <a:latin typeface="Calibri"/>
              </a:rPr>
              <a:t>Photo Story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83096" y="2542032"/>
            <a:ext cx="2286000" cy="36576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64224" y="2651760"/>
            <a:ext cx="25237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A4220"/>
                </a:solidFill>
                <a:latin typeface="Calibri"/>
              </a:rPr>
              <a:t>A PDF with family photos and caregiver-read captions. Each photo gets a 2-3 sentence caption -- sensory, emotional, specific -- designed to be read aloud while showing the photo.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83096" y="4315968"/>
            <a:ext cx="228600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82512" y="44256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One page per photo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48828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18pt+ accessible font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3400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Caption tied to real memory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57972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Embeds actual uploaded photos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17152" y="1298448"/>
            <a:ext cx="27432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217152" y="1298448"/>
            <a:ext cx="2743200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0168128" y="1517904"/>
            <a:ext cx="841248" cy="841248"/>
          </a:xfrm>
          <a:prstGeom prst="ellipse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217152" y="167683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 dirty="0">
                <a:solidFill>
                  <a:srgbClr val="2A7A6E"/>
                </a:solidFill>
                <a:latin typeface="Calibri"/>
              </a:rPr>
              <a:t>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0304" y="2154064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261508"/>
                </a:solidFill>
                <a:latin typeface="Calibri"/>
              </a:rPr>
              <a:t>Dialogue Guide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45752" y="2542032"/>
            <a:ext cx="2286000" cy="36576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326880" y="2651760"/>
            <a:ext cx="252374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 i="0" dirty="0">
                <a:solidFill>
                  <a:srgbClr val="6A4220"/>
                </a:solidFill>
                <a:latin typeface="Calibri"/>
              </a:rPr>
              <a:t>A full visit script for the caregiver: greeting, 5 memory prompts, photo sequence, distress de-escalation script, and gentle closing -- built from the patient's emotional anchors.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45752" y="4315968"/>
            <a:ext cx="228600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345168" y="44256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Opening &amp; closing scripts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45168" y="48828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5 tailored memory prompts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45168" y="53400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Photo show sequence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45168" y="5797296"/>
            <a:ext cx="25420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4220"/>
                </a:solidFill>
                <a:latin typeface="Calibri"/>
              </a:rPr>
              <a:t>▸  Distress response script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Caretaker AI Chat -- Ask Hearth Anything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E7248"/>
                </a:solidFill>
                <a:latin typeface="Calibri"/>
              </a:rPr>
              <a:t>Context-aware guidance powered by GPT-4o, scoped strictly to dementia care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5394960" cy="5074920"/>
          </a:xfrm>
          <a:prstGeom prst="roundRect">
            <a:avLst/>
          </a:prstGeom>
          <a:solidFill>
            <a:srgbClr val="F2E9DC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394960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26464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61508"/>
                </a:solidFill>
                <a:latin typeface="Calibri"/>
              </a:rPr>
              <a:t>What the Chat Interface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4220"/>
                </a:solidFill>
                <a:latin typeface="Calibri"/>
              </a:rPr>
              <a:t>Caregivers can have a real-time conversation with Hearth's AI -- asking questions about care strategies, communication techniques, or patient-specific approaches.
When a patient is selected from the dropdown, GPT-4o receives the patient's full profile (stage, emotional anchors, calming topics, memory count) as context -- making every answer specific to that person, not generic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794760"/>
            <a:ext cx="4937760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3950208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Real-time token streaming (no wait for full response)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35254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Patient context injected automatically into system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475488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Conversation history maintained across turns (last 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515721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Strictly scoped: off-topic questions politely declined by GPT-4o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555955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Clear chat button resets conversation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5961888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Works without patient selected (general dementia guidance)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298448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61508"/>
                </a:solidFill>
                <a:latin typeface="Calibri"/>
              </a:rPr>
              <a:t>Sample Interaction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691640"/>
            <a:ext cx="5760720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06640" y="1828800"/>
            <a:ext cx="4114800" cy="1143000"/>
          </a:xfrm>
          <a:prstGeom prst="roundRect">
            <a:avLst/>
          </a:prstGeom>
          <a:solidFill>
            <a:srgbClr val="FFF0E0"/>
          </a:solidFill>
          <a:ln w="9525">
            <a:solidFill>
              <a:srgbClr val="B87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16368" y="1883664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87430"/>
                </a:solidFill>
                <a:latin typeface="Calibri"/>
              </a:rPr>
              <a:t>CAREGIVER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2084832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Dorothy seems agitated today. She keeps asking for Walter. What should I do?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3108960"/>
            <a:ext cx="5212080" cy="1965960"/>
          </a:xfrm>
          <a:prstGeom prst="roundRect">
            <a:avLst/>
          </a:prstGeom>
          <a:solidFill>
            <a:srgbClr val="D4EDEB"/>
          </a:solidFill>
          <a:ln w="9525">
            <a:solidFill>
              <a:srgbClr val="2A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44768" y="316382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A7A6E"/>
                </a:solidFill>
                <a:latin typeface="Calibri"/>
              </a:rPr>
              <a:t>HEARTH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3364992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Walter was Dorothy's husband of 51 years -- this name is deeply important to her. Try gently saying: 'Walter loved you very much. He would want you to feel peaceful right now.' Then redirect to her calming topics -- hymns or the smell of rain. Playing a familiar hymn on low volume often helps ground her.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5212080"/>
            <a:ext cx="4114800" cy="868680"/>
          </a:xfrm>
          <a:prstGeom prst="roundRect">
            <a:avLst/>
          </a:prstGeom>
          <a:solidFill>
            <a:srgbClr val="FFF0E0"/>
          </a:solidFill>
          <a:ln w="9525">
            <a:solidFill>
              <a:srgbClr val="B87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6368" y="5266944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87430"/>
                </a:solidFill>
                <a:latin typeface="Calibri"/>
              </a:rPr>
              <a:t>CAREGIVER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546811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Should I tell her Walter has passed away?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6217920"/>
            <a:ext cx="5212080" cy="1417320"/>
          </a:xfrm>
          <a:prstGeom prst="roundRect">
            <a:avLst/>
          </a:prstGeom>
          <a:solidFill>
            <a:srgbClr val="D4EDEB"/>
          </a:solidFill>
          <a:ln w="9525">
            <a:solidFill>
              <a:srgbClr val="2A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44768" y="627278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A7A6E"/>
                </a:solidFill>
                <a:latin typeface="Calibri"/>
              </a:rPr>
              <a:t>HEARTH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6473952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In dementia care, it is rarely helpful to repeat news of a loss -- it can cause fresh grief each time. Instead, validate her feelings and redirect warmly toward comfort and memory.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Technology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E7248"/>
                </a:solidFill>
                <a:latin typeface="Calibri"/>
              </a:rPr>
              <a:t>FastAPI  |  OpenAI GPT-4o  |  Vanilla JS SPA  |  fpdf2  |  ElevenLabs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3657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3657600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A7A6E"/>
                </a:solidFill>
                <a:latin typeface="Calibri"/>
              </a:rPr>
              <a:t>Frontend (SPA)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65376"/>
            <a:ext cx="329184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198424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Vanilla JavaScript -- no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58775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7 screens, zero page reloads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191256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Server-Sent Events for live
job progress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794760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Token-by-token chat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398264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Drag &amp; drop file uploads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500176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Manual history stack
(back/forward nav)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560527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CSS custom properties
(light warm theme)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97096" y="1298448"/>
            <a:ext cx="3657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97096" y="1298448"/>
            <a:ext cx="3657600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34256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87430"/>
                </a:solidFill>
                <a:latin typeface="Calibri"/>
              </a:rPr>
              <a:t>Backend (FastAPI)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9976" y="1865376"/>
            <a:ext cx="329184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61688" y="198424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Python 3.11+  |  FastAPI  |  Uvicorn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258775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REST API + SSE streaming endpoints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3191256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ThreadPoolExecutor for
non-blocking AI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794760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In-memory job store with
real-time status updates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4398264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Patient data: JSON files
(profile + memories)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500176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CORS middleware for local dev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60527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Demo mode -- no API key needed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4152" y="1298448"/>
            <a:ext cx="36576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74152" y="1298448"/>
            <a:ext cx="3657600" cy="64008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11312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04C14"/>
                </a:solidFill>
                <a:latin typeface="Calibri"/>
              </a:rPr>
              <a:t>AI &amp; Output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7032" y="1865376"/>
            <a:ext cx="329184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38744" y="198424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OpenAI GPT-4o (artifact gen)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258775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GPT-4o streaming (chat)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3191256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fpdf2 -- all PDF 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8744" y="3794760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Pillow -- photo embedding
with BytesIO (no file lock)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8744" y="4398264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ElevenLabs TTS (optional)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8744" y="5001768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Per-patient context
in every system prompt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8744" y="560527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A4220"/>
                </a:solidFill>
                <a:latin typeface="Calibri"/>
              </a:rPr>
              <a:t>▸  JSON output with
markdown fence stripping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040" y="6510528"/>
            <a:ext cx="11475720" cy="256032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6537960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E7248"/>
                </a:solidFill>
                <a:latin typeface="Calibri"/>
              </a:rPr>
              <a:t>Data flow:  Browser  &lt;-&gt;  FastAPI (REST + SSE)  &lt;-&gt;  GPT-4o Agent  -&gt;  PDF Generators  -&gt;  File Store  -&gt;  Browser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Evaluation Pipeline -- How We Measure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E7248"/>
                </a:solidFill>
                <a:latin typeface="Calibri"/>
              </a:rPr>
              <a:t>Artifact quality, user experience, and clinical relevance across three dimensions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" y="1298448"/>
            <a:ext cx="3749039" cy="5102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1752" y="1298448"/>
            <a:ext cx="3749039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1417320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7430"/>
                </a:solidFill>
                <a:latin typeface="Calibri"/>
              </a:rPr>
              <a:t>Artifact Quality
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9339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E7248"/>
                </a:solidFill>
                <a:latin typeface="Calibri"/>
              </a:rPr>
              <a:t>How good are the AI-generated outputs?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" y="2340863"/>
            <a:ext cx="3383279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8912" y="2441448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Expert panel review (dementia care specialists grade each artifact)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3200400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264408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Rubric: specificity, warmth, avoidance of medical language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3959352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23360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BLEU / ROUGE vs. human-written gold-standard letters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4718304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782312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Caregiver blind comparison: AI artifact vs. human-written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5477256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541264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Readability scoring: Flesch-Kincaid target 6th grade level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1" y="1298448"/>
            <a:ext cx="3749039" cy="5102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79391" y="1298448"/>
            <a:ext cx="3749039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16551" y="1417320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7A6E"/>
                </a:solidFill>
                <a:latin typeface="Calibri"/>
              </a:rPr>
              <a:t>User Experience
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199339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E7248"/>
                </a:solidFill>
                <a:latin typeface="Calibri"/>
              </a:rPr>
              <a:t>Does the interface reduce caregiver stress?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2271" y="2340863"/>
            <a:ext cx="3383279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16551" y="2441448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59" y="2505456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System Usability Scale (SUS) survey after first use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6551" y="3200400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80559" y="3264408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Time-to-generate measurement: target &lt; 60 seconds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16551" y="3959352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59" y="4023360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Caregiver confidence score before/after using the package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16551" y="4718304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80559" y="4782312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Task completion rate for memory submission workflow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16551" y="5477256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80559" y="5541264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Net Promoter Score from caregiver cohort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57030" y="1298448"/>
            <a:ext cx="3749039" cy="5102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57030" y="1298448"/>
            <a:ext cx="3749039" cy="64008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94190" y="1417320"/>
            <a:ext cx="3474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04C14"/>
                </a:solidFill>
                <a:latin typeface="Calibri"/>
              </a:rPr>
              <a:t>Clinical Impact
Evaluation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0" y="199339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E7248"/>
                </a:solidFill>
                <a:latin typeface="Calibri"/>
              </a:rPr>
              <a:t>Does the patient benefit?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39910" y="2340863"/>
            <a:ext cx="3383279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394190" y="2441448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58198" y="2505456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Patient engagement duration during lucid moments (minutes)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94190" y="3200400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198" y="3264408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Caregiver-reported anxiety level of patient during visit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94190" y="3959352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58198" y="4023360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Repeat use rate: do caregivers run Lucid Now again?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94190" y="4718304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198" y="4782312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Family satisfaction score post-session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4190" y="5477256"/>
            <a:ext cx="3474719" cy="685800"/>
          </a:xfrm>
          <a:prstGeom prst="roundRect">
            <a:avLst/>
          </a:prstGeom>
          <a:solidFill>
            <a:srgbClr val="F2E9DC"/>
          </a:solidFill>
          <a:ln w="63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58198" y="5541264"/>
            <a:ext cx="3383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  Longitudinal: mood baseline improvement over 30 days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Technology Readiness Level (TRL)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E7248"/>
                </a:solidFill>
                <a:latin typeface="Calibri"/>
              </a:rPr>
              <a:t>Where Hearth stands today and what each next stage requires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1521440" cy="47548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38912" y="1280160"/>
            <a:ext cx="475488" cy="475488"/>
          </a:xfrm>
          <a:prstGeom prst="ellipse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35024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1508"/>
                </a:solidFill>
                <a:latin typeface="Calibri"/>
              </a:rPr>
              <a:t>Basic Principles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1389888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54880" y="1389888"/>
            <a:ext cx="792480" cy="21945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0360" y="1335024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Concept and core idea validated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773936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38912" y="1792224"/>
            <a:ext cx="475488" cy="475488"/>
          </a:xfrm>
          <a:prstGeom prst="ellipse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865376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1847088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1508"/>
                </a:solidFill>
                <a:latin typeface="Calibri"/>
              </a:rPr>
              <a:t>Technology 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901952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80" y="1901952"/>
            <a:ext cx="1584960" cy="21945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80360" y="1847088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Use case defined, target users identified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286000"/>
            <a:ext cx="11521440" cy="47548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38912" y="2304288"/>
            <a:ext cx="475488" cy="475488"/>
          </a:xfrm>
          <a:prstGeom prst="ellipse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37744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359152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1508"/>
                </a:solidFill>
                <a:latin typeface="Calibri"/>
              </a:rPr>
              <a:t>Proof of Concept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414016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2414016"/>
            <a:ext cx="2377440" cy="21945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0360" y="2359152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Core functionality demonstrated in lab environment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2798064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38912" y="2816352"/>
            <a:ext cx="475488" cy="475488"/>
          </a:xfrm>
          <a:prstGeom prst="ellipse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889504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2871216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61508"/>
                </a:solidFill>
                <a:latin typeface="Calibri"/>
              </a:rPr>
              <a:t>Lab Validation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2926080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54880" y="2926080"/>
            <a:ext cx="3169920" cy="21945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880360" y="2871216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Key components tested -- AI outputs, PDF generation, UI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310128"/>
            <a:ext cx="11521440" cy="47548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38912" y="3328416"/>
            <a:ext cx="475488" cy="475488"/>
          </a:xfrm>
          <a:prstGeom prst="ellipse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3401568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3383280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04C14"/>
                </a:solidFill>
                <a:latin typeface="Calibri"/>
              </a:rPr>
              <a:t>Relevant Environment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3438144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54880" y="3438144"/>
            <a:ext cx="3962400" cy="219456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80360" y="3383280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Hearth tested with simulated patient profiles and memories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01400" y="3401568"/>
            <a:ext cx="594360" cy="320040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201400" y="340156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3822192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38912" y="3840480"/>
            <a:ext cx="475488" cy="475488"/>
          </a:xfrm>
          <a:prstGeom prst="ellipse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3913632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7248"/>
                </a:solidFill>
                <a:latin typeface="Calibr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3895344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E7248"/>
                </a:solidFill>
                <a:latin typeface="Calibri"/>
              </a:rPr>
              <a:t>Demo Environment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3950208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754880" y="3950208"/>
            <a:ext cx="4754880" cy="21945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880360" y="3895344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E7248"/>
                </a:solidFill>
                <a:latin typeface="Calibri"/>
              </a:rPr>
              <a:t>Functional prototype tested with real caregivers in demos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4334256"/>
            <a:ext cx="11521440" cy="47548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38912" y="4352544"/>
            <a:ext cx="475488" cy="475488"/>
          </a:xfrm>
          <a:prstGeom prst="ellipse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7200" y="4425696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7248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" y="4407408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E7248"/>
                </a:solidFill>
                <a:latin typeface="Calibri"/>
              </a:rPr>
              <a:t>Pilot Deployment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54880" y="4462272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54880" y="4462272"/>
            <a:ext cx="5547360" cy="21945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0360" y="4407408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E7248"/>
                </a:solidFill>
                <a:latin typeface="Calibri"/>
              </a:rPr>
              <a:t>Pilot at one memory care facility with live patients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4846320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438912" y="4864608"/>
            <a:ext cx="475488" cy="475488"/>
          </a:xfrm>
          <a:prstGeom prst="ellipse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57200" y="493776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7248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" y="4919472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E7248"/>
                </a:solidFill>
                <a:latin typeface="Calibri"/>
              </a:rPr>
              <a:t>System Complete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4974336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754880" y="4974336"/>
            <a:ext cx="6339840" cy="21945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880360" y="4919472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E7248"/>
                </a:solidFill>
                <a:latin typeface="Calibri"/>
              </a:rPr>
              <a:t>Validated in operational clinical environment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358384"/>
            <a:ext cx="11521440" cy="47548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8912" y="5376672"/>
            <a:ext cx="475488" cy="475488"/>
          </a:xfrm>
          <a:prstGeom prst="ellipse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57200" y="5449824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7248"/>
                </a:solidFill>
                <a:latin typeface="Calibri"/>
              </a:rPr>
              <a:t>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" y="5431536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E7248"/>
                </a:solidFill>
                <a:latin typeface="Calibri"/>
              </a:rPr>
              <a:t>Operational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54880" y="5486400"/>
            <a:ext cx="7132320" cy="21945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754880" y="5486400"/>
            <a:ext cx="7132320" cy="21945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880360" y="5431536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E7248"/>
                </a:solidFill>
                <a:latin typeface="Calibri"/>
              </a:rPr>
              <a:t>Full deployment, HIPAA compliance, care network integration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6035040"/>
            <a:ext cx="11475720" cy="475488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576072" y="6172200"/>
            <a:ext cx="219456" cy="219456"/>
          </a:xfrm>
          <a:prstGeom prst="ellipse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68680" y="610819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Completed</a:t>
            </a:r>
          </a:p>
        </p:txBody>
      </p:sp>
      <p:sp>
        <p:nvSpPr>
          <p:cNvPr id="75" name="Oval 74"/>
          <p:cNvSpPr/>
          <p:nvPr/>
        </p:nvSpPr>
        <p:spPr>
          <a:xfrm>
            <a:off x="2039112" y="6172200"/>
            <a:ext cx="219456" cy="219456"/>
          </a:xfrm>
          <a:prstGeom prst="ellipse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331720" y="610819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Current TRL-5</a:t>
            </a:r>
          </a:p>
        </p:txBody>
      </p:sp>
      <p:sp>
        <p:nvSpPr>
          <p:cNvPr id="77" name="Oval 76"/>
          <p:cNvSpPr/>
          <p:nvPr/>
        </p:nvSpPr>
        <p:spPr>
          <a:xfrm>
            <a:off x="3867912" y="6172200"/>
            <a:ext cx="219456" cy="219456"/>
          </a:xfrm>
          <a:prstGeom prst="ellipse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60520" y="610819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Not yet reached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Business Implementation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E7248"/>
                </a:solidFill>
                <a:latin typeface="Calibri"/>
              </a:rPr>
              <a:t>From academic prototype to a sustainable, scalable care-technology product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2697480" cy="1078992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2697480" cy="54864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04C14"/>
                </a:solidFill>
                <a:latin typeface="Georgia"/>
              </a:rPr>
              <a:t>$7.5B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20240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A4220"/>
                </a:solidFill>
                <a:latin typeface="Calibri"/>
              </a:rPr>
              <a:t>U.S. dementia care
tech market (2024)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18688" y="1298448"/>
            <a:ext cx="2697480" cy="1078992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18688" y="1298448"/>
            <a:ext cx="2697480" cy="54864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10128" y="137160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87430"/>
                </a:solidFill>
                <a:latin typeface="Georgia"/>
              </a:rPr>
              <a:t>16,000+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1920240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A4220"/>
                </a:solidFill>
                <a:latin typeface="Calibri"/>
              </a:rPr>
              <a:t>Memory care facilities
in the United States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1298448"/>
            <a:ext cx="2697480" cy="1078992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17336" y="1298448"/>
            <a:ext cx="2697480" cy="54864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08776" y="137160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9A5E14"/>
                </a:solidFill>
                <a:latin typeface="Georgia"/>
              </a:rPr>
              <a:t>11M+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1920240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A4220"/>
                </a:solidFill>
                <a:latin typeface="Calibri"/>
              </a:rPr>
              <a:t>Potential end users
(unpaid caregivers)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298448"/>
            <a:ext cx="2697480" cy="1078992"/>
          </a:xfrm>
          <a:prstGeom prst="roundRect">
            <a:avLst/>
          </a:prstGeom>
          <a:solidFill>
            <a:srgbClr val="F2E9DC"/>
          </a:solidFill>
          <a:ln w="1270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15984" y="1298448"/>
            <a:ext cx="2697480" cy="54864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07424" y="137160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A7A6E"/>
                </a:solidFill>
                <a:latin typeface="Georgia"/>
              </a:rPr>
              <a:t>$360B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1920240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A4220"/>
                </a:solidFill>
                <a:latin typeface="Calibri"/>
              </a:rPr>
              <a:t>Annual dementia
care cost (target pain)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487168"/>
            <a:ext cx="1152144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20040" y="2606040"/>
            <a:ext cx="5394960" cy="37490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2606040"/>
            <a:ext cx="5394960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7249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87430"/>
                </a:solidFill>
                <a:latin typeface="Calibri"/>
              </a:rPr>
              <a:t>Business Model (SaaS)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108960"/>
            <a:ext cx="502920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4632" y="32004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Subscription Tiers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" y="3502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B2B: $199/month per facility (unlimited patients)
B2C: $9.99/month per family (1 patient)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0416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Freemium Entry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" y="4343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Free demo mode with pre-generated content -- converts families to paid on first lucid moment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882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Enterprise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51846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Health system licensing, branded white-label builds, EHR integration modules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57241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Data Moat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" y="602589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De-identified interaction patterns inform prompt refinement -- improving output quality over time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2606040"/>
            <a:ext cx="5394960" cy="37490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035040" y="2606040"/>
            <a:ext cx="5394960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72200" y="27249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7A6E"/>
                </a:solidFill>
                <a:latin typeface="Calibri"/>
              </a:rPr>
              <a:t>Go-To-Market Strategy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108960"/>
            <a:ext cx="502920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99632" y="32004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Phase 1: Direct to Families (0-6 months)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3502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Social media targeting family caregivers; Alzheimer's Association partnership; free tier drive sign-ups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0416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Phase 2: Memory Care Facilities (6-18 months)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343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Pilot with 3-5 facilities; case study ROI data; staff training program; facility branding option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9632" y="4882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Phase 3: Health System Integration (18-36 months)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51846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HIPAA compliance build-out; EHR API integration; insurance reimbursement pathway exploration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57241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1508"/>
                </a:solidFill>
                <a:latin typeface="Calibri"/>
              </a:rPr>
              <a:t>Phase 4: International Expansion (36+ months)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9632" y="602589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Localization for Spanish, Mandarin, German; WHO dementia partnership; multi-language GPT-4o prompting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88952" cy="4114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1508"/>
                </a:solidFill>
                <a:latin typeface="Georgia"/>
              </a:rPr>
              <a:t>Product Backlog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E7248"/>
                </a:solidFill>
                <a:latin typeface="Calibri"/>
              </a:rPr>
              <a:t>Prioritized features, known limitations, and the path forward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2743200" cy="64008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1426464"/>
            <a:ext cx="2560320" cy="274320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4264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v1.0 --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77393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1508"/>
                </a:solidFill>
                <a:latin typeface="Calibri"/>
              </a:rPr>
              <a:t>Academic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Core artifact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06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5 demo patients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9923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Chat interface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OpenAI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2304288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4408" y="1298448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64408" y="1298448"/>
            <a:ext cx="2743200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55848" y="1426464"/>
            <a:ext cx="2560320" cy="274320"/>
          </a:xfrm>
          <a:prstGeom prst="round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55848" y="14264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v1.5 -- Q3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177393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1508"/>
                </a:solidFill>
                <a:latin typeface="Calibri"/>
              </a:rPr>
              <a:t>Beta Release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93008" y="2103120"/>
            <a:ext cx="228600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01568" y="22128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HIPAA data encryption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606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Real ElevenLabs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299923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Mobile responsive 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Multi-language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25896" y="2304288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6" y="1298448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08776" y="1298448"/>
            <a:ext cx="2743200" cy="64008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300216" y="1426464"/>
            <a:ext cx="2560320" cy="274320"/>
          </a:xfrm>
          <a:prstGeom prst="round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00216" y="14264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v2.0 -- 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8504" y="177393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1508"/>
                </a:solidFill>
                <a:latin typeface="Calibri"/>
              </a:rPr>
              <a:t>Production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37376" y="2103120"/>
            <a:ext cx="228600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45936" y="22128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EHR integration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606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Facility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299923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Analytics + reporting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Family mobile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0264" y="2304288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B87430"/>
                </a:solidFill>
                <a:latin typeface="Calibri"/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53144" y="1298448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53144" y="1298448"/>
            <a:ext cx="2743200" cy="64008"/>
          </a:xfrm>
          <a:prstGeom prst="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9244584" y="1426464"/>
            <a:ext cx="2560320" cy="274320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244584" y="14264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v3.0 -- 2028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2872" y="177393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1508"/>
                </a:solidFill>
                <a:latin typeface="Calibri"/>
              </a:rPr>
              <a:t>Platform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381744" y="2103120"/>
            <a:ext cx="228600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290304" y="22128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Health system partnerships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0304" y="2606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Insurance reimbursement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0304" y="299923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GPT fine-tuning on care data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90304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4220"/>
                </a:solidFill>
                <a:latin typeface="Calibri"/>
              </a:rPr>
              <a:t>✓  Wearable triggers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3977639"/>
            <a:ext cx="11521440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20040" y="4114800"/>
            <a:ext cx="5532120" cy="2304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20040" y="4114800"/>
            <a:ext cx="5532120" cy="64008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7200" y="4206240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87430"/>
                </a:solidFill>
                <a:latin typeface="Calibri"/>
              </a:rPr>
              <a:t>Prioritized Backlog (Next Sprint)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72000"/>
            <a:ext cx="516636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484632" y="468172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84632" y="46817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4" y="46634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Add HIPAA-compliant encryption for patient data at rest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4632" y="495604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84632" y="495604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" y="493776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Replace demo voice output with real ElevenLabs TTS audio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4632" y="523036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84632" y="52303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4984" y="52120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Patient photo display in web UI (currently PDF only)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4632" y="5504688"/>
            <a:ext cx="457200" cy="201168"/>
          </a:xfrm>
          <a:prstGeom prst="round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4632" y="5504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" y="54864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Caregiver session log -- track which artifacts were used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4632" y="5779008"/>
            <a:ext cx="457200" cy="201168"/>
          </a:xfrm>
          <a:prstGeom prst="round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84632" y="57790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" y="576072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Add memory tagging (dates, people, places) for richer prompts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84632" y="6053328"/>
            <a:ext cx="457200" cy="201168"/>
          </a:xfrm>
          <a:prstGeom prst="round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84632" y="60533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" y="60350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Automated artifact email delivery to on-call staff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84632" y="6327648"/>
            <a:ext cx="457200" cy="201168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84632" y="632764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4984" y="630936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Dark mode toggle for night-shift caregivers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84632" y="6601968"/>
            <a:ext cx="457200" cy="201168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84632" y="66019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" y="6583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Bulk patient CSV import for facility onboarding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72200" y="4114800"/>
            <a:ext cx="5532120" cy="2304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D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172200" y="4114800"/>
            <a:ext cx="5532120" cy="64008"/>
          </a:xfrm>
          <a:prstGeom prst="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09360" y="4206240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04C14"/>
                </a:solidFill>
                <a:latin typeface="Calibri"/>
              </a:rPr>
              <a:t>Known Risks &amp; Mitigations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4572000"/>
            <a:ext cx="5166360" cy="36576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6336792" y="468172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336792" y="46817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67144" y="46634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AI hallucination -- GPT-4o may invent details not in memories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36792" y="4956048"/>
            <a:ext cx="457200" cy="201168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336792" y="495604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7144" y="493776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All prompts strictly reference submitted memories; human review step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36792" y="523036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36792" y="52303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67144" y="52120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No clinical validation -- outputs not reviewed by dementia specialists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336792" y="5504688"/>
            <a:ext cx="457200" cy="201168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336792" y="5504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67144" y="54864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v1.5 includes expert review panel and rubric-based QA pipeline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36792" y="577900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336792" y="57790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67144" y="576072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Patient data privacy -- PII in JSON files is unencrypted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336792" y="6053328"/>
            <a:ext cx="457200" cy="201168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336792" y="60533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MIT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67144" y="60350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v1.5 adds AES-256 encryption + access control per facility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36792" y="6327648"/>
            <a:ext cx="457200" cy="201168"/>
          </a:xfrm>
          <a:prstGeom prst="roundRect">
            <a:avLst/>
          </a:prstGeom>
          <a:solidFill>
            <a:srgbClr val="D04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336792" y="632764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67144" y="630936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Internet dependency -- no offline fallback for API calls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336792" y="6601968"/>
            <a:ext cx="457200" cy="201168"/>
          </a:xfrm>
          <a:prstGeom prst="roundRect">
            <a:avLst/>
          </a:prstGeom>
          <a:solidFill>
            <a:srgbClr val="2A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6336792" y="66019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MIT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67144" y="6583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4220"/>
                </a:solidFill>
                <a:latin typeface="Calibri"/>
              </a:rPr>
              <a:t>Demo mode provides full offline functionality as fallback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0" y="6556248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E7248"/>
                </a:solidFill>
                <a:latin typeface="Calibri"/>
              </a:rPr>
              <a:t>Hearth AI  |  BUAN 6V99  |  Spring 2026  |  Nikhil Gajula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D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53996" y="-411480"/>
            <a:ext cx="7680960" cy="7680960"/>
          </a:xfrm>
          <a:prstGeom prst="ellipse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ECDE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448556" y="1783080"/>
            <a:ext cx="3291840" cy="3291840"/>
          </a:xfrm>
          <a:prstGeom prst="ellipse">
            <a:avLst/>
          </a:prstGeom>
          <a:solidFill>
            <a:srgbClr val="E8D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A5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868680"/>
            <a:ext cx="121889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D04C14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874519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9A5E14"/>
                </a:solidFill>
                <a:latin typeface="Georgia"/>
              </a:rPr>
              <a:t>Hearth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926080"/>
            <a:ext cx="6702552" cy="36576"/>
          </a:xfrm>
          <a:prstGeom prst="rect">
            <a:avLst/>
          </a:prstGeom>
          <a:solidFill>
            <a:srgbClr val="B87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6A4220"/>
                </a:solidFill>
                <a:latin typeface="Calibri Light"/>
              </a:rPr>
              <a:t>When a lucid moment happens -- be ready.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E7248"/>
                </a:solidFill>
                <a:latin typeface="Calibri"/>
              </a:rPr>
              <a:t>FastAPI  |  OpenAI GPT-4o  |  fpdf2  |  ElevenLabs  |  Vanilla 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24528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7248"/>
                </a:solidFill>
                <a:latin typeface="Calibri"/>
              </a:rPr>
              <a:t>Nikhil Gajula  |  BUAN 6V99 -- AI Agentic Systems  |  Spring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4736592"/>
            <a:ext cx="6702552" cy="36576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71600" y="4892040"/>
            <a:ext cx="9445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87430"/>
                </a:solidFill>
                <a:latin typeface="Georgia"/>
              </a:rPr>
              <a:t>"Technology in service of the most human moments."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2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88952" cy="18288"/>
          </a:xfrm>
          <a:prstGeom prst="rect">
            <a:avLst/>
          </a:prstGeom>
          <a:solidFill>
            <a:srgbClr val="E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9E7248"/>
                </a:solidFill>
                <a:latin typeface="Calibri"/>
              </a:rPr>
              <a:t>All text in this presentation is fully editable. Built with python-pptx.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2280</Words>
  <Application>Microsoft Office PowerPoint</Application>
  <PresentationFormat>Custom</PresentationFormat>
  <Paragraphs>326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Gajula, Nikhil</cp:lastModifiedBy>
  <cp:revision>4</cp:revision>
  <dcterms:created xsi:type="dcterms:W3CDTF">2013-01-27T09:14:16Z</dcterms:created>
  <dcterms:modified xsi:type="dcterms:W3CDTF">2026-04-22T02:40:50Z</dcterms:modified>
  <cp:category/>
</cp:coreProperties>
</file>